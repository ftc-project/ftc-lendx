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Nunito Bold" charset="1" panose="00000000000000000000"/>
      <p:regular r:id="rId20"/>
    </p:embeddedFont>
    <p:embeddedFont>
      <p:font typeface="Nunito" charset="1" panose="00000000000000000000"/>
      <p:regular r:id="rId21"/>
    </p:embeddedFont>
    <p:embeddedFont>
      <p:font typeface="Sora" charset="1" panose="00000000000000000000"/>
      <p:regular r:id="rId22"/>
    </p:embeddedFont>
    <p:embeddedFont>
      <p:font typeface="Nunito Heavy" charset="1" panose="00000000000000000000"/>
      <p:regular r:id="rId23"/>
    </p:embeddedFont>
    <p:embeddedFont>
      <p:font typeface="Roboto Bold" charset="1" panose="02000000000000000000"/>
      <p:regular r:id="rId24"/>
    </p:embeddedFont>
    <p:embeddedFont>
      <p:font typeface="Poppins Bold" charset="1" panose="00000800000000000000"/>
      <p:regular r:id="rId25"/>
    </p:embeddedFont>
    <p:embeddedFont>
      <p:font typeface="Poppins Ultra-Bold" charset="1" panose="00000900000000000000"/>
      <p:regular r:id="rId26"/>
    </p:embeddedFont>
    <p:embeddedFont>
      <p:font typeface="Open Sans" charset="1" panose="00000000000000000000"/>
      <p:regular r:id="rId27"/>
    </p:embeddedFont>
    <p:embeddedFont>
      <p:font typeface="Open Sans Bold" charset="1" panose="00000000000000000000"/>
      <p:regular r:id="rId28"/>
    </p:embeddedFont>
    <p:embeddedFont>
      <p:font typeface="Roboto" charset="1" panose="02000000000000000000"/>
      <p:regular r:id="rId29"/>
    </p:embeddedFont>
    <p:embeddedFont>
      <p:font typeface="Poppin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https://www.youtube.com/watch?v=CtqK2H00Hxw" TargetMode="External" Type="http://schemas.openxmlformats.org/officeDocument/2006/relationships/video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3334" y="777121"/>
            <a:ext cx="15581807" cy="5365084"/>
          </a:xfrm>
          <a:custGeom>
            <a:avLst/>
            <a:gdLst/>
            <a:ahLst/>
            <a:cxnLst/>
            <a:rect r="r" b="b" t="t" l="l"/>
            <a:pathLst>
              <a:path h="5365084" w="15581807">
                <a:moveTo>
                  <a:pt x="0" y="0"/>
                </a:moveTo>
                <a:lnTo>
                  <a:pt x="15581806" y="0"/>
                </a:lnTo>
                <a:lnTo>
                  <a:pt x="15581806" y="5365084"/>
                </a:lnTo>
                <a:lnTo>
                  <a:pt x="0" y="5365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582" r="0" b="-10332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98198" y="9059407"/>
            <a:ext cx="5087309" cy="756737"/>
          </a:xfrm>
          <a:custGeom>
            <a:avLst/>
            <a:gdLst/>
            <a:ahLst/>
            <a:cxnLst/>
            <a:rect r="r" b="b" t="t" l="l"/>
            <a:pathLst>
              <a:path h="756737" w="5087309">
                <a:moveTo>
                  <a:pt x="0" y="0"/>
                </a:moveTo>
                <a:lnTo>
                  <a:pt x="5087309" y="0"/>
                </a:lnTo>
                <a:lnTo>
                  <a:pt x="5087309" y="756737"/>
                </a:lnTo>
                <a:lnTo>
                  <a:pt x="0" y="75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562917"/>
            <a:ext cx="16230600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F6F6F6"/>
                </a:solidFill>
                <a:latin typeface="Nunito Bold"/>
                <a:ea typeface="Nunito Bold"/>
                <a:cs typeface="Nunito Bold"/>
                <a:sym typeface="Nunito Bold"/>
              </a:rPr>
              <a:t>Where Every Transaction Builds Your Future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4960206"/>
            <a:ext cx="7125205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6F6F6"/>
                </a:solidFill>
                <a:latin typeface="Nunito"/>
                <a:ea typeface="Nunito"/>
                <a:cs typeface="Nunito"/>
                <a:sym typeface="Nunito"/>
              </a:rPr>
              <a:t>Decentralised</a:t>
            </a:r>
            <a:r>
              <a:rPr lang="en-US" sz="4200">
                <a:solidFill>
                  <a:srgbClr val="F6F6F6"/>
                </a:solidFill>
                <a:latin typeface="Nunito"/>
                <a:ea typeface="Nunito"/>
                <a:cs typeface="Nunito"/>
                <a:sym typeface="Nunito"/>
              </a:rPr>
              <a:t> Micro-Lending Platform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44879" y="5327764"/>
            <a:ext cx="2566988" cy="39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32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/nkah-dee-meh</a:t>
            </a:r>
            <a:r>
              <a:rPr lang="en-US" sz="2320">
                <a:solidFill>
                  <a:srgbClr val="FFFFFF"/>
                </a:solidFill>
                <a:latin typeface="Sora"/>
                <a:ea typeface="Sora"/>
                <a:cs typeface="Sora"/>
                <a:sym typeface="Sora"/>
              </a:rPr>
              <a:t> /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55074" y="5210660"/>
            <a:ext cx="173563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nkadime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55074" y="5747870"/>
            <a:ext cx="486042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Setswana</a:t>
            </a:r>
            <a:r>
              <a:rPr lang="en-US" sz="42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• lend 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63360"/>
            <a:ext cx="16342899" cy="1236401"/>
            <a:chOff x="0" y="0"/>
            <a:chExt cx="4304303" cy="3256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04303" cy="325637"/>
            </a:xfrm>
            <a:custGeom>
              <a:avLst/>
              <a:gdLst/>
              <a:ahLst/>
              <a:cxnLst/>
              <a:rect r="r" b="b" t="t" l="l"/>
              <a:pathLst>
                <a:path h="325637" w="4304303">
                  <a:moveTo>
                    <a:pt x="24160" y="0"/>
                  </a:moveTo>
                  <a:lnTo>
                    <a:pt x="4280143" y="0"/>
                  </a:lnTo>
                  <a:cubicBezTo>
                    <a:pt x="4286551" y="0"/>
                    <a:pt x="4292696" y="2545"/>
                    <a:pt x="4297226" y="7076"/>
                  </a:cubicBezTo>
                  <a:cubicBezTo>
                    <a:pt x="4301758" y="11607"/>
                    <a:pt x="4304303" y="17752"/>
                    <a:pt x="4304303" y="24160"/>
                  </a:cubicBezTo>
                  <a:lnTo>
                    <a:pt x="4304303" y="301477"/>
                  </a:lnTo>
                  <a:cubicBezTo>
                    <a:pt x="4304303" y="307885"/>
                    <a:pt x="4301758" y="314030"/>
                    <a:pt x="4297226" y="318560"/>
                  </a:cubicBezTo>
                  <a:cubicBezTo>
                    <a:pt x="4292696" y="323091"/>
                    <a:pt x="4286551" y="325637"/>
                    <a:pt x="4280143" y="325637"/>
                  </a:cubicBezTo>
                  <a:lnTo>
                    <a:pt x="24160" y="325637"/>
                  </a:lnTo>
                  <a:cubicBezTo>
                    <a:pt x="17752" y="325637"/>
                    <a:pt x="11607" y="323091"/>
                    <a:pt x="7076" y="318560"/>
                  </a:cubicBezTo>
                  <a:cubicBezTo>
                    <a:pt x="2545" y="314030"/>
                    <a:pt x="0" y="307885"/>
                    <a:pt x="0" y="301477"/>
                  </a:cubicBezTo>
                  <a:lnTo>
                    <a:pt x="0" y="24160"/>
                  </a:lnTo>
                  <a:cubicBezTo>
                    <a:pt x="0" y="17752"/>
                    <a:pt x="2545" y="11607"/>
                    <a:pt x="7076" y="7076"/>
                  </a:cubicBezTo>
                  <a:cubicBezTo>
                    <a:pt x="11607" y="2545"/>
                    <a:pt x="17752" y="0"/>
                    <a:pt x="2416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04303" cy="373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972086"/>
            <a:ext cx="16342899" cy="1236401"/>
            <a:chOff x="0" y="0"/>
            <a:chExt cx="4304303" cy="325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4303" cy="325637"/>
            </a:xfrm>
            <a:custGeom>
              <a:avLst/>
              <a:gdLst/>
              <a:ahLst/>
              <a:cxnLst/>
              <a:rect r="r" b="b" t="t" l="l"/>
              <a:pathLst>
                <a:path h="325637" w="4304303">
                  <a:moveTo>
                    <a:pt x="24160" y="0"/>
                  </a:moveTo>
                  <a:lnTo>
                    <a:pt x="4280143" y="0"/>
                  </a:lnTo>
                  <a:cubicBezTo>
                    <a:pt x="4286551" y="0"/>
                    <a:pt x="4292696" y="2545"/>
                    <a:pt x="4297226" y="7076"/>
                  </a:cubicBezTo>
                  <a:cubicBezTo>
                    <a:pt x="4301758" y="11607"/>
                    <a:pt x="4304303" y="17752"/>
                    <a:pt x="4304303" y="24160"/>
                  </a:cubicBezTo>
                  <a:lnTo>
                    <a:pt x="4304303" y="301477"/>
                  </a:lnTo>
                  <a:cubicBezTo>
                    <a:pt x="4304303" y="307885"/>
                    <a:pt x="4301758" y="314030"/>
                    <a:pt x="4297226" y="318560"/>
                  </a:cubicBezTo>
                  <a:cubicBezTo>
                    <a:pt x="4292696" y="323091"/>
                    <a:pt x="4286551" y="325637"/>
                    <a:pt x="4280143" y="325637"/>
                  </a:cubicBezTo>
                  <a:lnTo>
                    <a:pt x="24160" y="325637"/>
                  </a:lnTo>
                  <a:cubicBezTo>
                    <a:pt x="17752" y="325637"/>
                    <a:pt x="11607" y="323091"/>
                    <a:pt x="7076" y="318560"/>
                  </a:cubicBezTo>
                  <a:cubicBezTo>
                    <a:pt x="2545" y="314030"/>
                    <a:pt x="0" y="307885"/>
                    <a:pt x="0" y="301477"/>
                  </a:cubicBezTo>
                  <a:lnTo>
                    <a:pt x="0" y="24160"/>
                  </a:lnTo>
                  <a:cubicBezTo>
                    <a:pt x="0" y="17752"/>
                    <a:pt x="2545" y="11607"/>
                    <a:pt x="7076" y="7076"/>
                  </a:cubicBezTo>
                  <a:cubicBezTo>
                    <a:pt x="11607" y="2545"/>
                    <a:pt x="17752" y="0"/>
                    <a:pt x="24160" y="0"/>
                  </a:cubicBezTo>
                  <a:close/>
                </a:path>
              </a:pathLst>
            </a:custGeom>
            <a:solidFill>
              <a:srgbClr val="5E17EB"/>
            </a:solidFill>
            <a:ln w="3810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04303" cy="373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018861"/>
            <a:ext cx="7349026" cy="3911314"/>
            <a:chOff x="0" y="0"/>
            <a:chExt cx="1935546" cy="1030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5546" cy="1030140"/>
            </a:xfrm>
            <a:custGeom>
              <a:avLst/>
              <a:gdLst/>
              <a:ahLst/>
              <a:cxnLst/>
              <a:rect r="r" b="b" t="t" l="l"/>
              <a:pathLst>
                <a:path h="1030140" w="1935546">
                  <a:moveTo>
                    <a:pt x="0" y="0"/>
                  </a:moveTo>
                  <a:lnTo>
                    <a:pt x="1935546" y="0"/>
                  </a:lnTo>
                  <a:lnTo>
                    <a:pt x="1935546" y="1030140"/>
                  </a:lnTo>
                  <a:lnTo>
                    <a:pt x="0" y="103014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35546" cy="1077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31999" y="7052049"/>
            <a:ext cx="1453621" cy="1426021"/>
          </a:xfrm>
          <a:custGeom>
            <a:avLst/>
            <a:gdLst/>
            <a:ahLst/>
            <a:cxnLst/>
            <a:rect r="r" b="b" t="t" l="l"/>
            <a:pathLst>
              <a:path h="1426021" w="1453621">
                <a:moveTo>
                  <a:pt x="0" y="0"/>
                </a:moveTo>
                <a:lnTo>
                  <a:pt x="1453622" y="0"/>
                </a:lnTo>
                <a:lnTo>
                  <a:pt x="1453622" y="1426021"/>
                </a:lnTo>
                <a:lnTo>
                  <a:pt x="0" y="1426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90960" y="7056495"/>
            <a:ext cx="1557903" cy="1417129"/>
          </a:xfrm>
          <a:custGeom>
            <a:avLst/>
            <a:gdLst/>
            <a:ahLst/>
            <a:cxnLst/>
            <a:rect r="r" b="b" t="t" l="l"/>
            <a:pathLst>
              <a:path h="1417129" w="1557903">
                <a:moveTo>
                  <a:pt x="0" y="0"/>
                </a:moveTo>
                <a:lnTo>
                  <a:pt x="1557903" y="0"/>
                </a:lnTo>
                <a:lnTo>
                  <a:pt x="1557903" y="1417129"/>
                </a:lnTo>
                <a:lnTo>
                  <a:pt x="0" y="1417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8377726" y="8180320"/>
            <a:ext cx="687331" cy="0"/>
          </a:xfrm>
          <a:prstGeom prst="line">
            <a:avLst/>
          </a:prstGeom>
          <a:ln cap="flat" w="104775">
            <a:solidFill>
              <a:srgbClr val="5E17EB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-2681790" y="-1796941"/>
            <a:ext cx="22253230" cy="12398992"/>
            <a:chOff x="0" y="0"/>
            <a:chExt cx="29670974" cy="1653198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5962800" y="406400"/>
              <a:ext cx="3009189" cy="3855061"/>
              <a:chOff x="0" y="0"/>
              <a:chExt cx="604157" cy="77398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04157" cy="773983"/>
              </a:xfrm>
              <a:custGeom>
                <a:avLst/>
                <a:gdLst/>
                <a:ahLst/>
                <a:cxnLst/>
                <a:rect r="r" b="b" t="t" l="l"/>
                <a:pathLst>
                  <a:path h="773983" w="604157">
                    <a:moveTo>
                      <a:pt x="192386" y="0"/>
                    </a:moveTo>
                    <a:lnTo>
                      <a:pt x="411770" y="0"/>
                    </a:lnTo>
                    <a:cubicBezTo>
                      <a:pt x="462794" y="0"/>
                      <a:pt x="511729" y="20269"/>
                      <a:pt x="547808" y="56349"/>
                    </a:cubicBezTo>
                    <a:cubicBezTo>
                      <a:pt x="583887" y="92428"/>
                      <a:pt x="604157" y="141362"/>
                      <a:pt x="604157" y="192386"/>
                    </a:cubicBezTo>
                    <a:lnTo>
                      <a:pt x="604157" y="581596"/>
                    </a:lnTo>
                    <a:cubicBezTo>
                      <a:pt x="604157" y="632620"/>
                      <a:pt x="583887" y="681555"/>
                      <a:pt x="547808" y="717634"/>
                    </a:cubicBezTo>
                    <a:cubicBezTo>
                      <a:pt x="511729" y="753714"/>
                      <a:pt x="462794" y="773983"/>
                      <a:pt x="411770" y="773983"/>
                    </a:cubicBezTo>
                    <a:lnTo>
                      <a:pt x="192386" y="773983"/>
                    </a:lnTo>
                    <a:cubicBezTo>
                      <a:pt x="86134" y="773983"/>
                      <a:pt x="0" y="687848"/>
                      <a:pt x="0" y="581596"/>
                    </a:cubicBezTo>
                    <a:lnTo>
                      <a:pt x="0" y="192386"/>
                    </a:lnTo>
                    <a:cubicBezTo>
                      <a:pt x="0" y="141362"/>
                      <a:pt x="20269" y="92428"/>
                      <a:pt x="56349" y="56349"/>
                    </a:cubicBezTo>
                    <a:cubicBezTo>
                      <a:pt x="92428" y="20269"/>
                      <a:pt x="141362" y="0"/>
                      <a:pt x="192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604157" cy="831133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25762152" cy="4403409"/>
              <a:chOff x="0" y="0"/>
              <a:chExt cx="5172281" cy="88407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172281" cy="884075"/>
              </a:xfrm>
              <a:custGeom>
                <a:avLst/>
                <a:gdLst/>
                <a:ahLst/>
                <a:cxnLst/>
                <a:rect r="r" b="b" t="t" l="l"/>
                <a:pathLst>
                  <a:path h="884075" w="5172281">
                    <a:moveTo>
                      <a:pt x="22472" y="0"/>
                    </a:moveTo>
                    <a:lnTo>
                      <a:pt x="5149809" y="0"/>
                    </a:lnTo>
                    <a:cubicBezTo>
                      <a:pt x="5155769" y="0"/>
                      <a:pt x="5161485" y="2368"/>
                      <a:pt x="5165699" y="6582"/>
                    </a:cubicBezTo>
                    <a:cubicBezTo>
                      <a:pt x="5169914" y="10796"/>
                      <a:pt x="5172281" y="16512"/>
                      <a:pt x="5172281" y="22472"/>
                    </a:cubicBezTo>
                    <a:lnTo>
                      <a:pt x="5172281" y="861603"/>
                    </a:lnTo>
                    <a:cubicBezTo>
                      <a:pt x="5172281" y="867563"/>
                      <a:pt x="5169914" y="873279"/>
                      <a:pt x="5165699" y="877493"/>
                    </a:cubicBezTo>
                    <a:cubicBezTo>
                      <a:pt x="5161485" y="881707"/>
                      <a:pt x="5155769" y="884075"/>
                      <a:pt x="5149809" y="884075"/>
                    </a:cubicBezTo>
                    <a:lnTo>
                      <a:pt x="22472" y="884075"/>
                    </a:lnTo>
                    <a:cubicBezTo>
                      <a:pt x="16512" y="884075"/>
                      <a:pt x="10796" y="881707"/>
                      <a:pt x="6582" y="877493"/>
                    </a:cubicBezTo>
                    <a:cubicBezTo>
                      <a:pt x="2368" y="873279"/>
                      <a:pt x="0" y="867563"/>
                      <a:pt x="0" y="861603"/>
                    </a:cubicBezTo>
                    <a:lnTo>
                      <a:pt x="0" y="22472"/>
                    </a:lnTo>
                    <a:cubicBezTo>
                      <a:pt x="0" y="16512"/>
                      <a:pt x="2368" y="10796"/>
                      <a:pt x="6582" y="6582"/>
                    </a:cubicBezTo>
                    <a:cubicBezTo>
                      <a:pt x="10796" y="2368"/>
                      <a:pt x="16512" y="0"/>
                      <a:pt x="224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5172281" cy="941225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6437177" y="2573033"/>
              <a:ext cx="1372669" cy="1372669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E17EB"/>
              </a:solidFill>
              <a:ln w="9525" cap="sq">
                <a:solidFill>
                  <a:srgbClr val="5E17EB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18060" lIns="18060" bIns="18060" rIns="1806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6751111" y="2861264"/>
              <a:ext cx="240567" cy="764279"/>
              <a:chOff x="0" y="0"/>
              <a:chExt cx="216146" cy="68669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6146" cy="686692"/>
              </a:xfrm>
              <a:custGeom>
                <a:avLst/>
                <a:gdLst/>
                <a:ahLst/>
                <a:cxnLst/>
                <a:rect r="r" b="b" t="t" l="l"/>
                <a:pathLst>
                  <a:path h="686692" w="216146">
                    <a:moveTo>
                      <a:pt x="108073" y="0"/>
                    </a:moveTo>
                    <a:lnTo>
                      <a:pt x="108073" y="0"/>
                    </a:lnTo>
                    <a:cubicBezTo>
                      <a:pt x="167760" y="0"/>
                      <a:pt x="216146" y="48386"/>
                      <a:pt x="216146" y="108073"/>
                    </a:cubicBezTo>
                    <a:lnTo>
                      <a:pt x="216146" y="578619"/>
                    </a:lnTo>
                    <a:cubicBezTo>
                      <a:pt x="216146" y="638306"/>
                      <a:pt x="167760" y="686692"/>
                      <a:pt x="108073" y="686692"/>
                    </a:cubicBezTo>
                    <a:lnTo>
                      <a:pt x="108073" y="686692"/>
                    </a:lnTo>
                    <a:cubicBezTo>
                      <a:pt x="48386" y="686692"/>
                      <a:pt x="0" y="638306"/>
                      <a:pt x="0" y="578619"/>
                    </a:cubicBezTo>
                    <a:lnTo>
                      <a:pt x="0" y="108073"/>
                    </a:lnTo>
                    <a:cubicBezTo>
                      <a:pt x="0" y="48386"/>
                      <a:pt x="48386" y="0"/>
                      <a:pt x="10807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216146" cy="705742"/>
              </a:xfrm>
              <a:prstGeom prst="rect">
                <a:avLst/>
              </a:prstGeom>
            </p:spPr>
            <p:txBody>
              <a:bodyPr anchor="ctr" rtlCol="false" tIns="21423" lIns="21423" bIns="21423" rIns="21423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-4439686">
              <a:off x="26842433" y="2837228"/>
              <a:ext cx="234207" cy="217369"/>
              <a:chOff x="0" y="0"/>
              <a:chExt cx="796609" cy="73933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96609" cy="739338"/>
              </a:xfrm>
              <a:custGeom>
                <a:avLst/>
                <a:gdLst/>
                <a:ahLst/>
                <a:cxnLst/>
                <a:rect r="r" b="b" t="t" l="l"/>
                <a:pathLst>
                  <a:path h="739338" w="796609">
                    <a:moveTo>
                      <a:pt x="593409" y="0"/>
                    </a:moveTo>
                    <a:lnTo>
                      <a:pt x="0" y="0"/>
                    </a:lnTo>
                    <a:lnTo>
                      <a:pt x="203200" y="739338"/>
                    </a:lnTo>
                    <a:lnTo>
                      <a:pt x="796609" y="739338"/>
                    </a:lnTo>
                    <a:lnTo>
                      <a:pt x="59340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19050"/>
                <a:ext cx="593409" cy="758388"/>
              </a:xfrm>
              <a:prstGeom prst="rect">
                <a:avLst/>
              </a:prstGeom>
            </p:spPr>
            <p:txBody>
              <a:bodyPr anchor="ctr" rtlCol="false" tIns="21423" lIns="21423" bIns="21423" rIns="21423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5810705">
              <a:off x="27120290" y="2879001"/>
              <a:ext cx="454483" cy="445552"/>
              <a:chOff x="0" y="0"/>
              <a:chExt cx="567564" cy="55641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67564" cy="556410"/>
              </a:xfrm>
              <a:custGeom>
                <a:avLst/>
                <a:gdLst/>
                <a:ahLst/>
                <a:cxnLst/>
                <a:rect r="r" b="b" t="t" l="l"/>
                <a:pathLst>
                  <a:path h="556410" w="567564">
                    <a:moveTo>
                      <a:pt x="0" y="556410"/>
                    </a:moveTo>
                    <a:cubicBezTo>
                      <a:pt x="0" y="409873"/>
                      <a:pt x="60541" y="266586"/>
                      <a:pt x="166236" y="162969"/>
                    </a:cubicBezTo>
                    <a:cubicBezTo>
                      <a:pt x="271930" y="59351"/>
                      <a:pt x="418089" y="0"/>
                      <a:pt x="567564" y="0"/>
                    </a:cubicBezTo>
                    <a:lnTo>
                      <a:pt x="567564" y="283861"/>
                    </a:lnTo>
                    <a:cubicBezTo>
                      <a:pt x="494345" y="283861"/>
                      <a:pt x="422752" y="312934"/>
                      <a:pt x="370979" y="363688"/>
                    </a:cubicBezTo>
                    <a:cubicBezTo>
                      <a:pt x="319207" y="414444"/>
                      <a:pt x="289552" y="484630"/>
                      <a:pt x="289552" y="556410"/>
                    </a:cubicBezTo>
                    <a:lnTo>
                      <a:pt x="0" y="5564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28992" y="107407"/>
                <a:ext cx="309580" cy="322546"/>
              </a:xfrm>
              <a:prstGeom prst="rect">
                <a:avLst/>
              </a:prstGeom>
            </p:spPr>
            <p:txBody>
              <a:bodyPr anchor="ctr" rtlCol="false" tIns="20198" lIns="20198" bIns="20198" rIns="20198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-10800000">
              <a:off x="27314625" y="3148974"/>
              <a:ext cx="228498" cy="476568"/>
              <a:chOff x="0" y="0"/>
              <a:chExt cx="217756" cy="45416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17756" cy="454165"/>
              </a:xfrm>
              <a:custGeom>
                <a:avLst/>
                <a:gdLst/>
                <a:ahLst/>
                <a:cxnLst/>
                <a:rect r="r" b="b" t="t" l="l"/>
                <a:pathLst>
                  <a:path h="454165" w="217756">
                    <a:moveTo>
                      <a:pt x="108878" y="0"/>
                    </a:moveTo>
                    <a:lnTo>
                      <a:pt x="108878" y="0"/>
                    </a:lnTo>
                    <a:cubicBezTo>
                      <a:pt x="169010" y="0"/>
                      <a:pt x="217756" y="48746"/>
                      <a:pt x="217756" y="108878"/>
                    </a:cubicBezTo>
                    <a:lnTo>
                      <a:pt x="217756" y="345287"/>
                    </a:lnTo>
                    <a:cubicBezTo>
                      <a:pt x="217756" y="405419"/>
                      <a:pt x="169010" y="454165"/>
                      <a:pt x="108878" y="454165"/>
                    </a:cubicBezTo>
                    <a:lnTo>
                      <a:pt x="108878" y="454165"/>
                    </a:lnTo>
                    <a:cubicBezTo>
                      <a:pt x="80002" y="454165"/>
                      <a:pt x="52308" y="442694"/>
                      <a:pt x="31890" y="422276"/>
                    </a:cubicBezTo>
                    <a:cubicBezTo>
                      <a:pt x="11471" y="401857"/>
                      <a:pt x="0" y="374164"/>
                      <a:pt x="0" y="345287"/>
                    </a:cubicBezTo>
                    <a:lnTo>
                      <a:pt x="0" y="108878"/>
                    </a:lnTo>
                    <a:cubicBezTo>
                      <a:pt x="0" y="80002"/>
                      <a:pt x="11471" y="52308"/>
                      <a:pt x="31890" y="31890"/>
                    </a:cubicBezTo>
                    <a:cubicBezTo>
                      <a:pt x="52308" y="11471"/>
                      <a:pt x="80002" y="0"/>
                      <a:pt x="10887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19050"/>
                <a:ext cx="217756" cy="473215"/>
              </a:xfrm>
              <a:prstGeom prst="rect">
                <a:avLst/>
              </a:prstGeom>
            </p:spPr>
            <p:txBody>
              <a:bodyPr anchor="ctr" rtlCol="false" tIns="20198" lIns="20198" bIns="20198" rIns="20198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4910802" y="2732301"/>
              <a:ext cx="17147396" cy="1323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sz="5999" b="true">
                  <a:solidFill>
                    <a:srgbClr val="5E17EB"/>
                  </a:solidFill>
                  <a:latin typeface="Nunito Heavy"/>
                  <a:ea typeface="Nunito Heavy"/>
                  <a:cs typeface="Nunito Heavy"/>
                  <a:sym typeface="Nunito Heavy"/>
                </a:rPr>
                <a:t>The Problem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26941052" y="14740321"/>
              <a:ext cx="2729922" cy="1791668"/>
              <a:chOff x="0" y="0"/>
              <a:chExt cx="548088" cy="35971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48088" cy="359714"/>
              </a:xfrm>
              <a:custGeom>
                <a:avLst/>
                <a:gdLst/>
                <a:ahLst/>
                <a:cxnLst/>
                <a:rect r="r" b="b" t="t" l="l"/>
                <a:pathLst>
                  <a:path h="359714" w="548088">
                    <a:moveTo>
                      <a:pt x="179857" y="0"/>
                    </a:moveTo>
                    <a:lnTo>
                      <a:pt x="368231" y="0"/>
                    </a:lnTo>
                    <a:cubicBezTo>
                      <a:pt x="415932" y="0"/>
                      <a:pt x="461679" y="18949"/>
                      <a:pt x="495409" y="52679"/>
                    </a:cubicBezTo>
                    <a:cubicBezTo>
                      <a:pt x="529139" y="86409"/>
                      <a:pt x="548088" y="132156"/>
                      <a:pt x="548088" y="179857"/>
                    </a:cubicBezTo>
                    <a:lnTo>
                      <a:pt x="548088" y="179857"/>
                    </a:lnTo>
                    <a:cubicBezTo>
                      <a:pt x="548088" y="227558"/>
                      <a:pt x="529139" y="273306"/>
                      <a:pt x="495409" y="307035"/>
                    </a:cubicBezTo>
                    <a:cubicBezTo>
                      <a:pt x="461679" y="340765"/>
                      <a:pt x="415932" y="359714"/>
                      <a:pt x="368231" y="359714"/>
                    </a:cubicBezTo>
                    <a:lnTo>
                      <a:pt x="179857" y="359714"/>
                    </a:lnTo>
                    <a:cubicBezTo>
                      <a:pt x="132156" y="359714"/>
                      <a:pt x="86409" y="340765"/>
                      <a:pt x="52679" y="307035"/>
                    </a:cubicBezTo>
                    <a:cubicBezTo>
                      <a:pt x="18949" y="273306"/>
                      <a:pt x="0" y="227558"/>
                      <a:pt x="0" y="179857"/>
                    </a:cubicBezTo>
                    <a:lnTo>
                      <a:pt x="0" y="179857"/>
                    </a:lnTo>
                    <a:cubicBezTo>
                      <a:pt x="0" y="132156"/>
                      <a:pt x="18949" y="86409"/>
                      <a:pt x="52679" y="52679"/>
                    </a:cubicBezTo>
                    <a:cubicBezTo>
                      <a:pt x="86409" y="18949"/>
                      <a:pt x="132156" y="0"/>
                      <a:pt x="1798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548088" cy="416864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7348723" y="15318589"/>
              <a:ext cx="348975" cy="65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 b="true">
                  <a:solidFill>
                    <a:srgbClr val="5E17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1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28700" y="1677066"/>
            <a:ext cx="14900507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13 Million South Africans Are Trapped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42468" y="4683746"/>
            <a:ext cx="1173324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6F6F6"/>
                </a:solidFill>
                <a:latin typeface="Poppins Bold"/>
                <a:ea typeface="Poppins Bold"/>
                <a:cs typeface="Poppins Bold"/>
                <a:sym typeface="Poppins Bold"/>
              </a:rPr>
              <a:t>Yet 26% have no credit history (TransUnion SA, 2021)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2468" y="3292471"/>
            <a:ext cx="1173324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84% are banked (Berkowitz &amp; Mutsonziwa, 2025)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12388" y="6240520"/>
            <a:ext cx="251504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5E17E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The Result.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501118" y="8595360"/>
            <a:ext cx="2137588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payslips means </a:t>
            </a:r>
          </a:p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credit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6154202" y="7010256"/>
            <a:ext cx="1449223" cy="1509607"/>
          </a:xfrm>
          <a:custGeom>
            <a:avLst/>
            <a:gdLst/>
            <a:ahLst/>
            <a:cxnLst/>
            <a:rect r="r" b="b" t="t" l="l"/>
            <a:pathLst>
              <a:path h="1509607" w="1449223">
                <a:moveTo>
                  <a:pt x="0" y="0"/>
                </a:moveTo>
                <a:lnTo>
                  <a:pt x="1449223" y="0"/>
                </a:lnTo>
                <a:lnTo>
                  <a:pt x="1449223" y="1509607"/>
                </a:lnTo>
                <a:lnTo>
                  <a:pt x="0" y="1509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6004002" y="8595360"/>
            <a:ext cx="1749623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collateral, No loans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088009" y="8595360"/>
            <a:ext cx="2341602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credit history means </a:t>
            </a:r>
          </a:p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opportunity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grpSp>
        <p:nvGrpSpPr>
          <p:cNvPr name="Group 49" id="49"/>
          <p:cNvGrpSpPr/>
          <p:nvPr/>
        </p:nvGrpSpPr>
        <p:grpSpPr>
          <a:xfrm rot="0">
            <a:off x="9065057" y="6123507"/>
            <a:ext cx="8306542" cy="3740583"/>
            <a:chOff x="0" y="0"/>
            <a:chExt cx="2187731" cy="98517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87731" cy="985174"/>
            </a:xfrm>
            <a:custGeom>
              <a:avLst/>
              <a:gdLst/>
              <a:ahLst/>
              <a:cxnLst/>
              <a:rect r="r" b="b" t="t" l="l"/>
              <a:pathLst>
                <a:path h="985174" w="2187731">
                  <a:moveTo>
                    <a:pt x="47533" y="0"/>
                  </a:moveTo>
                  <a:lnTo>
                    <a:pt x="2140198" y="0"/>
                  </a:lnTo>
                  <a:cubicBezTo>
                    <a:pt x="2166450" y="0"/>
                    <a:pt x="2187731" y="21281"/>
                    <a:pt x="2187731" y="47533"/>
                  </a:cubicBezTo>
                  <a:lnTo>
                    <a:pt x="2187731" y="937641"/>
                  </a:lnTo>
                  <a:cubicBezTo>
                    <a:pt x="2187731" y="950247"/>
                    <a:pt x="2182723" y="962338"/>
                    <a:pt x="2173809" y="971252"/>
                  </a:cubicBezTo>
                  <a:cubicBezTo>
                    <a:pt x="2164895" y="980166"/>
                    <a:pt x="2152804" y="985174"/>
                    <a:pt x="2140198" y="985174"/>
                  </a:cubicBezTo>
                  <a:lnTo>
                    <a:pt x="47533" y="985174"/>
                  </a:lnTo>
                  <a:cubicBezTo>
                    <a:pt x="34927" y="985174"/>
                    <a:pt x="22836" y="980166"/>
                    <a:pt x="13922" y="971252"/>
                  </a:cubicBezTo>
                  <a:cubicBezTo>
                    <a:pt x="5008" y="962338"/>
                    <a:pt x="0" y="950247"/>
                    <a:pt x="0" y="937641"/>
                  </a:cubicBezTo>
                  <a:lnTo>
                    <a:pt x="0" y="47533"/>
                  </a:lnTo>
                  <a:cubicBezTo>
                    <a:pt x="0" y="34927"/>
                    <a:pt x="5008" y="22836"/>
                    <a:pt x="13922" y="13922"/>
                  </a:cubicBezTo>
                  <a:cubicBezTo>
                    <a:pt x="22836" y="5008"/>
                    <a:pt x="34927" y="0"/>
                    <a:pt x="47533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187731" cy="1032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0022477" y="7290283"/>
            <a:ext cx="1281976" cy="1560385"/>
          </a:xfrm>
          <a:custGeom>
            <a:avLst/>
            <a:gdLst/>
            <a:ahLst/>
            <a:cxnLst/>
            <a:rect r="r" b="b" t="t" l="l"/>
            <a:pathLst>
              <a:path h="1560385" w="1281976">
                <a:moveTo>
                  <a:pt x="0" y="0"/>
                </a:moveTo>
                <a:lnTo>
                  <a:pt x="1281976" y="0"/>
                </a:lnTo>
                <a:lnTo>
                  <a:pt x="1281976" y="1560385"/>
                </a:lnTo>
                <a:lnTo>
                  <a:pt x="0" y="1560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5E17EB"/>
            </a:solidFill>
            <a:prstDash val="solid"/>
            <a:miter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12371490" y="7262798"/>
            <a:ext cx="1490369" cy="1587870"/>
          </a:xfrm>
          <a:custGeom>
            <a:avLst/>
            <a:gdLst/>
            <a:ahLst/>
            <a:cxnLst/>
            <a:rect r="r" b="b" t="t" l="l"/>
            <a:pathLst>
              <a:path h="1587870" w="1490369">
                <a:moveTo>
                  <a:pt x="0" y="0"/>
                </a:moveTo>
                <a:lnTo>
                  <a:pt x="1490369" y="0"/>
                </a:lnTo>
                <a:lnTo>
                  <a:pt x="1490369" y="1587870"/>
                </a:lnTo>
                <a:lnTo>
                  <a:pt x="0" y="15878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47625" cap="sq">
            <a:solidFill>
              <a:srgbClr val="5E17EB"/>
            </a:solidFill>
            <a:prstDash val="solid"/>
            <a:miter/>
          </a:ln>
        </p:spPr>
      </p:sp>
      <p:sp>
        <p:nvSpPr>
          <p:cNvPr name="Freeform 54" id="54"/>
          <p:cNvSpPr/>
          <p:nvPr/>
        </p:nvSpPr>
        <p:spPr>
          <a:xfrm flipH="false" flipV="false" rot="0">
            <a:off x="14928896" y="7262798"/>
            <a:ext cx="1597817" cy="1526370"/>
          </a:xfrm>
          <a:custGeom>
            <a:avLst/>
            <a:gdLst/>
            <a:ahLst/>
            <a:cxnLst/>
            <a:rect r="r" b="b" t="t" l="l"/>
            <a:pathLst>
              <a:path h="1526370" w="1597817">
                <a:moveTo>
                  <a:pt x="0" y="0"/>
                </a:moveTo>
                <a:lnTo>
                  <a:pt x="1597818" y="0"/>
                </a:lnTo>
                <a:lnTo>
                  <a:pt x="1597818" y="1526370"/>
                </a:lnTo>
                <a:lnTo>
                  <a:pt x="0" y="15263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47625" cap="sq">
            <a:solidFill>
              <a:srgbClr val="5E17EB"/>
            </a:solidFill>
            <a:prstDash val="solid"/>
            <a:miter/>
          </a:ln>
        </p:spPr>
      </p:sp>
      <p:sp>
        <p:nvSpPr>
          <p:cNvPr name="TextBox 55" id="55"/>
          <p:cNvSpPr txBox="true"/>
          <p:nvPr/>
        </p:nvSpPr>
        <p:spPr>
          <a:xfrm rot="0">
            <a:off x="10568862" y="6323661"/>
            <a:ext cx="509562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5E17E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What Happens Next?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15786" y="8955443"/>
            <a:ext cx="1824038" cy="63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5"/>
              </a:lnSpc>
              <a:spcBef>
                <a:spcPct val="0"/>
              </a:spcBef>
            </a:pPr>
            <a:r>
              <a:rPr lang="en-US" b="true" sz="18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10-16 million </a:t>
            </a:r>
          </a:p>
          <a:p>
            <a:pPr algn="ctr">
              <a:lnSpc>
                <a:spcPts val="2545"/>
              </a:lnSpc>
              <a:spcBef>
                <a:spcPct val="0"/>
              </a:spcBef>
            </a:pPr>
            <a:r>
              <a:rPr lang="en-US" b="true" sz="18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people trapped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476394" y="8945918"/>
            <a:ext cx="2374142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Mashonisa charge </a:t>
            </a:r>
          </a:p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exploitative rates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2007235" y="8943855"/>
            <a:ext cx="2218879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Cycle of debt and </a:t>
            </a:r>
          </a:p>
          <a:p>
            <a:pPr algn="ctr">
              <a:lnSpc>
                <a:spcPts val="2519"/>
              </a:lnSpc>
            </a:pPr>
            <a:r>
              <a:rPr lang="en-US" b="true" sz="1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exclusion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3186256" y="7195464"/>
            <a:ext cx="404068" cy="97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5E17E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+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548888" y="7203054"/>
            <a:ext cx="404068" cy="97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5E17E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+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319887" y="7928358"/>
            <a:ext cx="1024433" cy="206804"/>
            <a:chOff x="0" y="0"/>
            <a:chExt cx="1365910" cy="275739"/>
          </a:xfrm>
        </p:grpSpPr>
        <p:sp>
          <p:nvSpPr>
            <p:cNvPr name="AutoShape 62" id="62"/>
            <p:cNvSpPr/>
            <p:nvPr/>
          </p:nvSpPr>
          <p:spPr>
            <a:xfrm>
              <a:off x="520125" y="64465"/>
              <a:ext cx="845785" cy="0"/>
            </a:xfrm>
            <a:prstGeom prst="line">
              <a:avLst/>
            </a:prstGeom>
            <a:ln cap="flat" w="128929">
              <a:solidFill>
                <a:srgbClr val="5E17EB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3" id="63"/>
            <p:cNvSpPr/>
            <p:nvPr/>
          </p:nvSpPr>
          <p:spPr>
            <a:xfrm flipH="true">
              <a:off x="0" y="211274"/>
              <a:ext cx="845785" cy="0"/>
            </a:xfrm>
            <a:prstGeom prst="line">
              <a:avLst/>
            </a:prstGeom>
            <a:ln cap="flat" w="128929">
              <a:solidFill>
                <a:srgbClr val="5E17EB"/>
              </a:solidFill>
              <a:prstDash val="solid"/>
              <a:headEnd type="none" len="sm" w="sm"/>
              <a:tailEnd type="arrow" len="sm" w="med"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889673" y="7928358"/>
            <a:ext cx="1024433" cy="206804"/>
            <a:chOff x="0" y="0"/>
            <a:chExt cx="1365910" cy="275739"/>
          </a:xfrm>
        </p:grpSpPr>
        <p:sp>
          <p:nvSpPr>
            <p:cNvPr name="AutoShape 65" id="65"/>
            <p:cNvSpPr/>
            <p:nvPr/>
          </p:nvSpPr>
          <p:spPr>
            <a:xfrm>
              <a:off x="520125" y="64465"/>
              <a:ext cx="845785" cy="0"/>
            </a:xfrm>
            <a:prstGeom prst="line">
              <a:avLst/>
            </a:prstGeom>
            <a:ln cap="flat" w="128929">
              <a:solidFill>
                <a:srgbClr val="5E17EB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6" id="66"/>
            <p:cNvSpPr/>
            <p:nvPr/>
          </p:nvSpPr>
          <p:spPr>
            <a:xfrm flipH="true">
              <a:off x="0" y="211274"/>
              <a:ext cx="845785" cy="0"/>
            </a:xfrm>
            <a:prstGeom prst="line">
              <a:avLst/>
            </a:prstGeom>
            <a:ln cap="flat" w="128929">
              <a:solidFill>
                <a:srgbClr val="5E17EB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81790" y="-1796941"/>
            <a:ext cx="22253230" cy="12398992"/>
            <a:chOff x="0" y="0"/>
            <a:chExt cx="29670974" cy="1653198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5962800" y="406400"/>
              <a:ext cx="3009189" cy="3855061"/>
              <a:chOff x="0" y="0"/>
              <a:chExt cx="604157" cy="77398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04157" cy="773983"/>
              </a:xfrm>
              <a:custGeom>
                <a:avLst/>
                <a:gdLst/>
                <a:ahLst/>
                <a:cxnLst/>
                <a:rect r="r" b="b" t="t" l="l"/>
                <a:pathLst>
                  <a:path h="773983" w="604157">
                    <a:moveTo>
                      <a:pt x="192386" y="0"/>
                    </a:moveTo>
                    <a:lnTo>
                      <a:pt x="411770" y="0"/>
                    </a:lnTo>
                    <a:cubicBezTo>
                      <a:pt x="462794" y="0"/>
                      <a:pt x="511729" y="20269"/>
                      <a:pt x="547808" y="56349"/>
                    </a:cubicBezTo>
                    <a:cubicBezTo>
                      <a:pt x="583887" y="92428"/>
                      <a:pt x="604157" y="141362"/>
                      <a:pt x="604157" y="192386"/>
                    </a:cubicBezTo>
                    <a:lnTo>
                      <a:pt x="604157" y="581596"/>
                    </a:lnTo>
                    <a:cubicBezTo>
                      <a:pt x="604157" y="632620"/>
                      <a:pt x="583887" y="681555"/>
                      <a:pt x="547808" y="717634"/>
                    </a:cubicBezTo>
                    <a:cubicBezTo>
                      <a:pt x="511729" y="753714"/>
                      <a:pt x="462794" y="773983"/>
                      <a:pt x="411770" y="773983"/>
                    </a:cubicBezTo>
                    <a:lnTo>
                      <a:pt x="192386" y="773983"/>
                    </a:lnTo>
                    <a:cubicBezTo>
                      <a:pt x="86134" y="773983"/>
                      <a:pt x="0" y="687848"/>
                      <a:pt x="0" y="581596"/>
                    </a:cubicBezTo>
                    <a:lnTo>
                      <a:pt x="0" y="192386"/>
                    </a:lnTo>
                    <a:cubicBezTo>
                      <a:pt x="0" y="141362"/>
                      <a:pt x="20269" y="92428"/>
                      <a:pt x="56349" y="56349"/>
                    </a:cubicBezTo>
                    <a:cubicBezTo>
                      <a:pt x="92428" y="20269"/>
                      <a:pt x="141362" y="0"/>
                      <a:pt x="192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604157" cy="831133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5762152" cy="4403409"/>
              <a:chOff x="0" y="0"/>
              <a:chExt cx="5172281" cy="88407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172281" cy="884075"/>
              </a:xfrm>
              <a:custGeom>
                <a:avLst/>
                <a:gdLst/>
                <a:ahLst/>
                <a:cxnLst/>
                <a:rect r="r" b="b" t="t" l="l"/>
                <a:pathLst>
                  <a:path h="884075" w="5172281">
                    <a:moveTo>
                      <a:pt x="22472" y="0"/>
                    </a:moveTo>
                    <a:lnTo>
                      <a:pt x="5149809" y="0"/>
                    </a:lnTo>
                    <a:cubicBezTo>
                      <a:pt x="5155769" y="0"/>
                      <a:pt x="5161485" y="2368"/>
                      <a:pt x="5165699" y="6582"/>
                    </a:cubicBezTo>
                    <a:cubicBezTo>
                      <a:pt x="5169914" y="10796"/>
                      <a:pt x="5172281" y="16512"/>
                      <a:pt x="5172281" y="22472"/>
                    </a:cubicBezTo>
                    <a:lnTo>
                      <a:pt x="5172281" y="861603"/>
                    </a:lnTo>
                    <a:cubicBezTo>
                      <a:pt x="5172281" y="867563"/>
                      <a:pt x="5169914" y="873279"/>
                      <a:pt x="5165699" y="877493"/>
                    </a:cubicBezTo>
                    <a:cubicBezTo>
                      <a:pt x="5161485" y="881707"/>
                      <a:pt x="5155769" y="884075"/>
                      <a:pt x="5149809" y="884075"/>
                    </a:cubicBezTo>
                    <a:lnTo>
                      <a:pt x="22472" y="884075"/>
                    </a:lnTo>
                    <a:cubicBezTo>
                      <a:pt x="16512" y="884075"/>
                      <a:pt x="10796" y="881707"/>
                      <a:pt x="6582" y="877493"/>
                    </a:cubicBezTo>
                    <a:cubicBezTo>
                      <a:pt x="2368" y="873279"/>
                      <a:pt x="0" y="867563"/>
                      <a:pt x="0" y="861603"/>
                    </a:cubicBezTo>
                    <a:lnTo>
                      <a:pt x="0" y="22472"/>
                    </a:lnTo>
                    <a:cubicBezTo>
                      <a:pt x="0" y="16512"/>
                      <a:pt x="2368" y="10796"/>
                      <a:pt x="6582" y="6582"/>
                    </a:cubicBezTo>
                    <a:cubicBezTo>
                      <a:pt x="10796" y="2368"/>
                      <a:pt x="16512" y="0"/>
                      <a:pt x="224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5172281" cy="941225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6437177" y="2573033"/>
              <a:ext cx="1372669" cy="137266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E17EB"/>
              </a:solidFill>
              <a:ln w="9525" cap="sq">
                <a:solidFill>
                  <a:srgbClr val="5E17EB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18060" lIns="18060" bIns="18060" rIns="1806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6751111" y="2861264"/>
              <a:ext cx="240567" cy="764279"/>
              <a:chOff x="0" y="0"/>
              <a:chExt cx="216146" cy="68669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6146" cy="686692"/>
              </a:xfrm>
              <a:custGeom>
                <a:avLst/>
                <a:gdLst/>
                <a:ahLst/>
                <a:cxnLst/>
                <a:rect r="r" b="b" t="t" l="l"/>
                <a:pathLst>
                  <a:path h="686692" w="216146">
                    <a:moveTo>
                      <a:pt x="108073" y="0"/>
                    </a:moveTo>
                    <a:lnTo>
                      <a:pt x="108073" y="0"/>
                    </a:lnTo>
                    <a:cubicBezTo>
                      <a:pt x="167760" y="0"/>
                      <a:pt x="216146" y="48386"/>
                      <a:pt x="216146" y="108073"/>
                    </a:cubicBezTo>
                    <a:lnTo>
                      <a:pt x="216146" y="578619"/>
                    </a:lnTo>
                    <a:cubicBezTo>
                      <a:pt x="216146" y="638306"/>
                      <a:pt x="167760" y="686692"/>
                      <a:pt x="108073" y="686692"/>
                    </a:cubicBezTo>
                    <a:lnTo>
                      <a:pt x="108073" y="686692"/>
                    </a:lnTo>
                    <a:cubicBezTo>
                      <a:pt x="48386" y="686692"/>
                      <a:pt x="0" y="638306"/>
                      <a:pt x="0" y="578619"/>
                    </a:cubicBezTo>
                    <a:lnTo>
                      <a:pt x="0" y="108073"/>
                    </a:lnTo>
                    <a:cubicBezTo>
                      <a:pt x="0" y="48386"/>
                      <a:pt x="48386" y="0"/>
                      <a:pt x="10807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216146" cy="705742"/>
              </a:xfrm>
              <a:prstGeom prst="rect">
                <a:avLst/>
              </a:prstGeom>
            </p:spPr>
            <p:txBody>
              <a:bodyPr anchor="ctr" rtlCol="false" tIns="21423" lIns="21423" bIns="21423" rIns="21423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4439686">
              <a:off x="26842433" y="2837228"/>
              <a:ext cx="234207" cy="217369"/>
              <a:chOff x="0" y="0"/>
              <a:chExt cx="796609" cy="73933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96609" cy="739338"/>
              </a:xfrm>
              <a:custGeom>
                <a:avLst/>
                <a:gdLst/>
                <a:ahLst/>
                <a:cxnLst/>
                <a:rect r="r" b="b" t="t" l="l"/>
                <a:pathLst>
                  <a:path h="739338" w="796609">
                    <a:moveTo>
                      <a:pt x="593409" y="0"/>
                    </a:moveTo>
                    <a:lnTo>
                      <a:pt x="0" y="0"/>
                    </a:lnTo>
                    <a:lnTo>
                      <a:pt x="203200" y="739338"/>
                    </a:lnTo>
                    <a:lnTo>
                      <a:pt x="796609" y="739338"/>
                    </a:lnTo>
                    <a:lnTo>
                      <a:pt x="59340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01600" y="-19050"/>
                <a:ext cx="593409" cy="758388"/>
              </a:xfrm>
              <a:prstGeom prst="rect">
                <a:avLst/>
              </a:prstGeom>
            </p:spPr>
            <p:txBody>
              <a:bodyPr anchor="ctr" rtlCol="false" tIns="21423" lIns="21423" bIns="21423" rIns="21423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5810705">
              <a:off x="27120290" y="2879001"/>
              <a:ext cx="454483" cy="445552"/>
              <a:chOff x="0" y="0"/>
              <a:chExt cx="567564" cy="55641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67564" cy="556410"/>
              </a:xfrm>
              <a:custGeom>
                <a:avLst/>
                <a:gdLst/>
                <a:ahLst/>
                <a:cxnLst/>
                <a:rect r="r" b="b" t="t" l="l"/>
                <a:pathLst>
                  <a:path h="556410" w="567564">
                    <a:moveTo>
                      <a:pt x="0" y="556410"/>
                    </a:moveTo>
                    <a:cubicBezTo>
                      <a:pt x="0" y="409873"/>
                      <a:pt x="60541" y="266586"/>
                      <a:pt x="166236" y="162969"/>
                    </a:cubicBezTo>
                    <a:cubicBezTo>
                      <a:pt x="271930" y="59351"/>
                      <a:pt x="418089" y="0"/>
                      <a:pt x="567564" y="0"/>
                    </a:cubicBezTo>
                    <a:lnTo>
                      <a:pt x="567564" y="283861"/>
                    </a:lnTo>
                    <a:cubicBezTo>
                      <a:pt x="494345" y="283861"/>
                      <a:pt x="422752" y="312934"/>
                      <a:pt x="370979" y="363688"/>
                    </a:cubicBezTo>
                    <a:cubicBezTo>
                      <a:pt x="319207" y="414444"/>
                      <a:pt x="289552" y="484630"/>
                      <a:pt x="289552" y="556410"/>
                    </a:cubicBezTo>
                    <a:lnTo>
                      <a:pt x="0" y="5564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28992" y="107407"/>
                <a:ext cx="309580" cy="322546"/>
              </a:xfrm>
              <a:prstGeom prst="rect">
                <a:avLst/>
              </a:prstGeom>
            </p:spPr>
            <p:txBody>
              <a:bodyPr anchor="ctr" rtlCol="false" tIns="20198" lIns="20198" bIns="20198" rIns="20198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-10800000">
              <a:off x="27314625" y="3148974"/>
              <a:ext cx="228498" cy="476568"/>
              <a:chOff x="0" y="0"/>
              <a:chExt cx="217756" cy="45416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7756" cy="454165"/>
              </a:xfrm>
              <a:custGeom>
                <a:avLst/>
                <a:gdLst/>
                <a:ahLst/>
                <a:cxnLst/>
                <a:rect r="r" b="b" t="t" l="l"/>
                <a:pathLst>
                  <a:path h="454165" w="217756">
                    <a:moveTo>
                      <a:pt x="108878" y="0"/>
                    </a:moveTo>
                    <a:lnTo>
                      <a:pt x="108878" y="0"/>
                    </a:lnTo>
                    <a:cubicBezTo>
                      <a:pt x="169010" y="0"/>
                      <a:pt x="217756" y="48746"/>
                      <a:pt x="217756" y="108878"/>
                    </a:cubicBezTo>
                    <a:lnTo>
                      <a:pt x="217756" y="345287"/>
                    </a:lnTo>
                    <a:cubicBezTo>
                      <a:pt x="217756" y="405419"/>
                      <a:pt x="169010" y="454165"/>
                      <a:pt x="108878" y="454165"/>
                    </a:cubicBezTo>
                    <a:lnTo>
                      <a:pt x="108878" y="454165"/>
                    </a:lnTo>
                    <a:cubicBezTo>
                      <a:pt x="80002" y="454165"/>
                      <a:pt x="52308" y="442694"/>
                      <a:pt x="31890" y="422276"/>
                    </a:cubicBezTo>
                    <a:cubicBezTo>
                      <a:pt x="11471" y="401857"/>
                      <a:pt x="0" y="374164"/>
                      <a:pt x="0" y="345287"/>
                    </a:cubicBezTo>
                    <a:lnTo>
                      <a:pt x="0" y="108878"/>
                    </a:lnTo>
                    <a:cubicBezTo>
                      <a:pt x="0" y="80002"/>
                      <a:pt x="11471" y="52308"/>
                      <a:pt x="31890" y="31890"/>
                    </a:cubicBezTo>
                    <a:cubicBezTo>
                      <a:pt x="52308" y="11471"/>
                      <a:pt x="80002" y="0"/>
                      <a:pt x="10887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217756" cy="473215"/>
              </a:xfrm>
              <a:prstGeom prst="rect">
                <a:avLst/>
              </a:prstGeom>
            </p:spPr>
            <p:txBody>
              <a:bodyPr anchor="ctr" rtlCol="false" tIns="20198" lIns="20198" bIns="20198" rIns="20198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910802" y="2732301"/>
              <a:ext cx="17147396" cy="1323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sz="5999" b="true">
                  <a:solidFill>
                    <a:srgbClr val="5E17EB"/>
                  </a:solidFill>
                  <a:latin typeface="Nunito Heavy"/>
                  <a:ea typeface="Nunito Heavy"/>
                  <a:cs typeface="Nunito Heavy"/>
                  <a:sym typeface="Nunito Heavy"/>
                </a:rPr>
                <a:t>Why Systems Fail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26941052" y="14740321"/>
              <a:ext cx="2729922" cy="1791668"/>
              <a:chOff x="0" y="0"/>
              <a:chExt cx="548088" cy="35971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48088" cy="359714"/>
              </a:xfrm>
              <a:custGeom>
                <a:avLst/>
                <a:gdLst/>
                <a:ahLst/>
                <a:cxnLst/>
                <a:rect r="r" b="b" t="t" l="l"/>
                <a:pathLst>
                  <a:path h="359714" w="548088">
                    <a:moveTo>
                      <a:pt x="179857" y="0"/>
                    </a:moveTo>
                    <a:lnTo>
                      <a:pt x="368231" y="0"/>
                    </a:lnTo>
                    <a:cubicBezTo>
                      <a:pt x="415932" y="0"/>
                      <a:pt x="461679" y="18949"/>
                      <a:pt x="495409" y="52679"/>
                    </a:cubicBezTo>
                    <a:cubicBezTo>
                      <a:pt x="529139" y="86409"/>
                      <a:pt x="548088" y="132156"/>
                      <a:pt x="548088" y="179857"/>
                    </a:cubicBezTo>
                    <a:lnTo>
                      <a:pt x="548088" y="179857"/>
                    </a:lnTo>
                    <a:cubicBezTo>
                      <a:pt x="548088" y="227558"/>
                      <a:pt x="529139" y="273306"/>
                      <a:pt x="495409" y="307035"/>
                    </a:cubicBezTo>
                    <a:cubicBezTo>
                      <a:pt x="461679" y="340765"/>
                      <a:pt x="415932" y="359714"/>
                      <a:pt x="368231" y="359714"/>
                    </a:cubicBezTo>
                    <a:lnTo>
                      <a:pt x="179857" y="359714"/>
                    </a:lnTo>
                    <a:cubicBezTo>
                      <a:pt x="132156" y="359714"/>
                      <a:pt x="86409" y="340765"/>
                      <a:pt x="52679" y="307035"/>
                    </a:cubicBezTo>
                    <a:cubicBezTo>
                      <a:pt x="18949" y="273306"/>
                      <a:pt x="0" y="227558"/>
                      <a:pt x="0" y="179857"/>
                    </a:cubicBezTo>
                    <a:lnTo>
                      <a:pt x="0" y="179857"/>
                    </a:lnTo>
                    <a:cubicBezTo>
                      <a:pt x="0" y="132156"/>
                      <a:pt x="18949" y="86409"/>
                      <a:pt x="52679" y="52679"/>
                    </a:cubicBezTo>
                    <a:cubicBezTo>
                      <a:pt x="86409" y="18949"/>
                      <a:pt x="132156" y="0"/>
                      <a:pt x="1798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548088" cy="416864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7348723" y="15318589"/>
              <a:ext cx="348975" cy="65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 b="true">
                  <a:solidFill>
                    <a:srgbClr val="5E17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05705" y="2773022"/>
            <a:ext cx="5472680" cy="8195461"/>
            <a:chOff x="0" y="0"/>
            <a:chExt cx="1539825" cy="23059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39825" cy="2305922"/>
            </a:xfrm>
            <a:custGeom>
              <a:avLst/>
              <a:gdLst/>
              <a:ahLst/>
              <a:cxnLst/>
              <a:rect r="r" b="b" t="t" l="l"/>
              <a:pathLst>
                <a:path h="2305922" w="1539825">
                  <a:moveTo>
                    <a:pt x="72147" y="0"/>
                  </a:moveTo>
                  <a:lnTo>
                    <a:pt x="1467678" y="0"/>
                  </a:lnTo>
                  <a:cubicBezTo>
                    <a:pt x="1507523" y="0"/>
                    <a:pt x="1539825" y="32301"/>
                    <a:pt x="1539825" y="72147"/>
                  </a:cubicBezTo>
                  <a:lnTo>
                    <a:pt x="1539825" y="2233775"/>
                  </a:lnTo>
                  <a:cubicBezTo>
                    <a:pt x="1539825" y="2273621"/>
                    <a:pt x="1507523" y="2305922"/>
                    <a:pt x="1467678" y="2305922"/>
                  </a:cubicBezTo>
                  <a:lnTo>
                    <a:pt x="72147" y="2305922"/>
                  </a:lnTo>
                  <a:cubicBezTo>
                    <a:pt x="32301" y="2305922"/>
                    <a:pt x="0" y="2273621"/>
                    <a:pt x="0" y="2233775"/>
                  </a:cubicBezTo>
                  <a:lnTo>
                    <a:pt x="0" y="72147"/>
                  </a:lnTo>
                  <a:cubicBezTo>
                    <a:pt x="0" y="32301"/>
                    <a:pt x="32301" y="0"/>
                    <a:pt x="7214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539825" cy="2353547"/>
            </a:xfrm>
            <a:prstGeom prst="rect">
              <a:avLst/>
            </a:prstGeom>
          </p:spPr>
          <p:txBody>
            <a:bodyPr anchor="ctr" rtlCol="false" tIns="47552" lIns="47552" bIns="47552" rIns="47552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-1289800" y="3199545"/>
            <a:ext cx="12695504" cy="2794747"/>
            <a:chOff x="0" y="0"/>
            <a:chExt cx="3343672" cy="7360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43672" cy="736065"/>
            </a:xfrm>
            <a:custGeom>
              <a:avLst/>
              <a:gdLst/>
              <a:ahLst/>
              <a:cxnLst/>
              <a:rect r="r" b="b" t="t" l="l"/>
              <a:pathLst>
                <a:path h="736065" w="3343672">
                  <a:moveTo>
                    <a:pt x="0" y="0"/>
                  </a:moveTo>
                  <a:lnTo>
                    <a:pt x="3343672" y="0"/>
                  </a:lnTo>
                  <a:lnTo>
                    <a:pt x="3343672" y="736065"/>
                  </a:lnTo>
                  <a:lnTo>
                    <a:pt x="0" y="736065"/>
                  </a:lnTo>
                  <a:close/>
                </a:path>
              </a:pathLst>
            </a:custGeom>
            <a:solidFill>
              <a:srgbClr val="5E17EB"/>
            </a:solidFill>
            <a:ln w="857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343672" cy="783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1698551" y="6899166"/>
            <a:ext cx="13104255" cy="2708617"/>
            <a:chOff x="0" y="0"/>
            <a:chExt cx="2388904" cy="4937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88904" cy="493780"/>
            </a:xfrm>
            <a:custGeom>
              <a:avLst/>
              <a:gdLst/>
              <a:ahLst/>
              <a:cxnLst/>
              <a:rect r="r" b="b" t="t" l="l"/>
              <a:pathLst>
                <a:path h="493780" w="2388904">
                  <a:moveTo>
                    <a:pt x="0" y="0"/>
                  </a:moveTo>
                  <a:lnTo>
                    <a:pt x="2388904" y="0"/>
                  </a:lnTo>
                  <a:lnTo>
                    <a:pt x="2388904" y="493780"/>
                  </a:lnTo>
                  <a:lnTo>
                    <a:pt x="0" y="493780"/>
                  </a:lnTo>
                  <a:close/>
                </a:path>
              </a:pathLst>
            </a:custGeom>
            <a:solidFill>
              <a:srgbClr val="000000"/>
            </a:solidFill>
            <a:ln w="857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388904" cy="541405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081583" y="6365864"/>
            <a:ext cx="2120922" cy="2120922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19"/>
                </a:lnSpc>
              </a:pPr>
              <a:r>
                <a:rPr lang="en-US" b="true" sz="37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32.9%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252474" y="7630857"/>
            <a:ext cx="8080982" cy="121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Formal Credit History Required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26% of adults have none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38413" y="3408997"/>
            <a:ext cx="4685005" cy="240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Proof of Stable Employment</a:t>
            </a:r>
          </a:p>
          <a:p>
            <a:pPr algn="l">
              <a:lnSpc>
                <a:spcPts val="4199"/>
              </a:lnSpc>
            </a:pPr>
            <a:r>
              <a:rPr lang="en-US" b="true" sz="2999" strike="noStrike" u="none">
                <a:solidFill>
                  <a:srgbClr val="5E17EB"/>
                </a:solidFill>
                <a:latin typeface="Roboto Bold"/>
                <a:ea typeface="Roboto Bold"/>
                <a:cs typeface="Roboto Bold"/>
                <a:sym typeface="Roboto Bold"/>
              </a:rPr>
              <a:t>Gig workers completely excluded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507108"/>
            <a:ext cx="11623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52474" y="4004310"/>
            <a:ext cx="7473138" cy="121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sz="3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Collateral Demanded</a:t>
            </a: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</a:t>
            </a:r>
            <a:r>
              <a:rPr lang="en-US" sz="2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nks demand what they don't have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83455" y="8967787"/>
            <a:ext cx="359492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unemployment rate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1677066"/>
            <a:ext cx="14900507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Credit Access Barriers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5E17EB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8646521" y="4434455"/>
            <a:ext cx="17031887" cy="1342822"/>
            <a:chOff x="0" y="0"/>
            <a:chExt cx="4559335" cy="3594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59335" cy="359466"/>
            </a:xfrm>
            <a:custGeom>
              <a:avLst/>
              <a:gdLst/>
              <a:ahLst/>
              <a:cxnLst/>
              <a:rect r="r" b="b" t="t" l="l"/>
              <a:pathLst>
                <a:path h="359466" w="4559335">
                  <a:moveTo>
                    <a:pt x="15000" y="0"/>
                  </a:moveTo>
                  <a:lnTo>
                    <a:pt x="4544335" y="0"/>
                  </a:lnTo>
                  <a:cubicBezTo>
                    <a:pt x="4552619" y="0"/>
                    <a:pt x="4559335" y="6716"/>
                    <a:pt x="4559335" y="15000"/>
                  </a:cubicBezTo>
                  <a:lnTo>
                    <a:pt x="4559335" y="344465"/>
                  </a:lnTo>
                  <a:cubicBezTo>
                    <a:pt x="4559335" y="348444"/>
                    <a:pt x="4557754" y="352259"/>
                    <a:pt x="4554941" y="355072"/>
                  </a:cubicBezTo>
                  <a:cubicBezTo>
                    <a:pt x="4552128" y="357885"/>
                    <a:pt x="4548313" y="359466"/>
                    <a:pt x="4544335" y="359466"/>
                  </a:cubicBezTo>
                  <a:lnTo>
                    <a:pt x="15000" y="359466"/>
                  </a:lnTo>
                  <a:cubicBezTo>
                    <a:pt x="6716" y="359466"/>
                    <a:pt x="0" y="352750"/>
                    <a:pt x="0" y="344465"/>
                  </a:cubicBezTo>
                  <a:lnTo>
                    <a:pt x="0" y="15000"/>
                  </a:lnTo>
                  <a:cubicBezTo>
                    <a:pt x="0" y="6716"/>
                    <a:pt x="6716" y="0"/>
                    <a:pt x="15000" y="0"/>
                  </a:cubicBezTo>
                  <a:close/>
                </a:path>
              </a:pathLst>
            </a:custGeom>
            <a:solidFill>
              <a:srgbClr val="000000"/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559335" cy="416616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681790" y="-1796941"/>
            <a:ext cx="19321614" cy="3302557"/>
            <a:chOff x="0" y="0"/>
            <a:chExt cx="5172281" cy="8840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5E17EB"/>
            </a:solidFill>
            <a:ln w="1428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6093" y="132834"/>
            <a:ext cx="1029502" cy="102950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  <a:ln w="95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381544" y="349007"/>
            <a:ext cx="180425" cy="573209"/>
            <a:chOff x="0" y="0"/>
            <a:chExt cx="216146" cy="6866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4439686">
            <a:off x="17450035" y="330980"/>
            <a:ext cx="175656" cy="163027"/>
            <a:chOff x="0" y="0"/>
            <a:chExt cx="796609" cy="7393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810705">
            <a:off x="17658428" y="362310"/>
            <a:ext cx="340863" cy="334164"/>
            <a:chOff x="0" y="0"/>
            <a:chExt cx="567564" cy="5564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7804179" y="564790"/>
            <a:ext cx="171373" cy="357426"/>
            <a:chOff x="0" y="0"/>
            <a:chExt cx="217756" cy="4541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47152" y="6358303"/>
            <a:ext cx="5185344" cy="4075577"/>
            <a:chOff x="0" y="0"/>
            <a:chExt cx="6913792" cy="543410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6913792" cy="5434103"/>
              <a:chOff x="0" y="0"/>
              <a:chExt cx="1359754" cy="106873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59754" cy="1068739"/>
              </a:xfrm>
              <a:custGeom>
                <a:avLst/>
                <a:gdLst/>
                <a:ahLst/>
                <a:cxnLst/>
                <a:rect r="r" b="b" t="t" l="l"/>
                <a:pathLst>
                  <a:path h="1068739" w="1359754">
                    <a:moveTo>
                      <a:pt x="50297" y="0"/>
                    </a:moveTo>
                    <a:lnTo>
                      <a:pt x="1309457" y="0"/>
                    </a:lnTo>
                    <a:cubicBezTo>
                      <a:pt x="1322796" y="0"/>
                      <a:pt x="1335590" y="5299"/>
                      <a:pt x="1345022" y="14732"/>
                    </a:cubicBezTo>
                    <a:cubicBezTo>
                      <a:pt x="1354455" y="24164"/>
                      <a:pt x="1359754" y="36957"/>
                      <a:pt x="1359754" y="50297"/>
                    </a:cubicBezTo>
                    <a:lnTo>
                      <a:pt x="1359754" y="1018442"/>
                    </a:lnTo>
                    <a:cubicBezTo>
                      <a:pt x="1359754" y="1046221"/>
                      <a:pt x="1337235" y="1068739"/>
                      <a:pt x="1309457" y="1068739"/>
                    </a:cubicBezTo>
                    <a:lnTo>
                      <a:pt x="50297" y="1068739"/>
                    </a:lnTo>
                    <a:cubicBezTo>
                      <a:pt x="22519" y="1068739"/>
                      <a:pt x="0" y="1046221"/>
                      <a:pt x="0" y="1018442"/>
                    </a:cubicBezTo>
                    <a:lnTo>
                      <a:pt x="0" y="50297"/>
                    </a:lnTo>
                    <a:cubicBezTo>
                      <a:pt x="0" y="22519"/>
                      <a:pt x="22519" y="0"/>
                      <a:pt x="5029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359754" cy="1125889"/>
              </a:xfrm>
              <a:prstGeom prst="rect">
                <a:avLst/>
              </a:prstGeom>
            </p:spPr>
            <p:txBody>
              <a:bodyPr anchor="ctr" rtlCol="false" tIns="49980" lIns="49980" bIns="49980" rIns="4998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74160" y="347550"/>
              <a:ext cx="6005146" cy="1904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716"/>
                </a:lnSpc>
                <a:spcBef>
                  <a:spcPct val="0"/>
                </a:spcBef>
              </a:pPr>
              <a:r>
                <a:rPr lang="en-US" b="true" sz="4083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On-Chain Reputation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74160" y="2631326"/>
              <a:ext cx="5261070" cy="2011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7"/>
                </a:lnSpc>
                <a:spcBef>
                  <a:spcPct val="0"/>
                </a:spcBef>
              </a:pPr>
              <a:r>
                <a:rPr lang="en-US" b="true" sz="2855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matches existing reputational trust-building  values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523999" y="9258300"/>
            <a:ext cx="2047442" cy="1343751"/>
            <a:chOff x="0" y="0"/>
            <a:chExt cx="548088" cy="3597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088" cy="359714"/>
            </a:xfrm>
            <a:custGeom>
              <a:avLst/>
              <a:gdLst/>
              <a:ahLst/>
              <a:cxnLst/>
              <a:rect r="r" b="b" t="t" l="l"/>
              <a:pathLst>
                <a:path h="359714" w="548088">
                  <a:moveTo>
                    <a:pt x="179857" y="0"/>
                  </a:moveTo>
                  <a:lnTo>
                    <a:pt x="368231" y="0"/>
                  </a:lnTo>
                  <a:cubicBezTo>
                    <a:pt x="415932" y="0"/>
                    <a:pt x="461679" y="18949"/>
                    <a:pt x="495409" y="52679"/>
                  </a:cubicBezTo>
                  <a:cubicBezTo>
                    <a:pt x="529139" y="86409"/>
                    <a:pt x="548088" y="132156"/>
                    <a:pt x="548088" y="179857"/>
                  </a:cubicBezTo>
                  <a:lnTo>
                    <a:pt x="548088" y="179857"/>
                  </a:lnTo>
                  <a:cubicBezTo>
                    <a:pt x="548088" y="227558"/>
                    <a:pt x="529139" y="273306"/>
                    <a:pt x="495409" y="307035"/>
                  </a:cubicBezTo>
                  <a:cubicBezTo>
                    <a:pt x="461679" y="340765"/>
                    <a:pt x="415932" y="359714"/>
                    <a:pt x="368231" y="359714"/>
                  </a:cubicBezTo>
                  <a:lnTo>
                    <a:pt x="179857" y="359714"/>
                  </a:lnTo>
                  <a:cubicBezTo>
                    <a:pt x="132156" y="359714"/>
                    <a:pt x="86409" y="340765"/>
                    <a:pt x="52679" y="307035"/>
                  </a:cubicBezTo>
                  <a:cubicBezTo>
                    <a:pt x="18949" y="273306"/>
                    <a:pt x="0" y="227558"/>
                    <a:pt x="0" y="179857"/>
                  </a:cubicBezTo>
                  <a:lnTo>
                    <a:pt x="0" y="179857"/>
                  </a:lnTo>
                  <a:cubicBezTo>
                    <a:pt x="0" y="132156"/>
                    <a:pt x="18949" y="86409"/>
                    <a:pt x="52679" y="52679"/>
                  </a:cubicBezTo>
                  <a:cubicBezTo>
                    <a:pt x="86409" y="18949"/>
                    <a:pt x="132156" y="0"/>
                    <a:pt x="179857" y="0"/>
                  </a:cubicBezTo>
                  <a:close/>
                </a:path>
              </a:pathLst>
            </a:custGeom>
            <a:solidFill>
              <a:srgbClr val="5E17EB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48088" cy="416864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7829752" y="9675332"/>
            <a:ext cx="26173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-983294" y="2919816"/>
            <a:ext cx="20262369" cy="1236401"/>
            <a:chOff x="0" y="0"/>
            <a:chExt cx="5336591" cy="3256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36591" cy="325637"/>
            </a:xfrm>
            <a:custGeom>
              <a:avLst/>
              <a:gdLst/>
              <a:ahLst/>
              <a:cxnLst/>
              <a:rect r="r" b="b" t="t" l="l"/>
              <a:pathLst>
                <a:path h="325637" w="5336591">
                  <a:moveTo>
                    <a:pt x="19486" y="0"/>
                  </a:moveTo>
                  <a:lnTo>
                    <a:pt x="5317105" y="0"/>
                  </a:lnTo>
                  <a:cubicBezTo>
                    <a:pt x="5322273" y="0"/>
                    <a:pt x="5327229" y="2053"/>
                    <a:pt x="5330884" y="5707"/>
                  </a:cubicBezTo>
                  <a:cubicBezTo>
                    <a:pt x="5334538" y="9362"/>
                    <a:pt x="5336591" y="14318"/>
                    <a:pt x="5336591" y="19486"/>
                  </a:cubicBezTo>
                  <a:lnTo>
                    <a:pt x="5336591" y="306150"/>
                  </a:lnTo>
                  <a:cubicBezTo>
                    <a:pt x="5336591" y="311318"/>
                    <a:pt x="5334538" y="316275"/>
                    <a:pt x="5330884" y="319929"/>
                  </a:cubicBezTo>
                  <a:cubicBezTo>
                    <a:pt x="5327229" y="323584"/>
                    <a:pt x="5322273" y="325637"/>
                    <a:pt x="5317105" y="325637"/>
                  </a:cubicBezTo>
                  <a:lnTo>
                    <a:pt x="19486" y="325637"/>
                  </a:lnTo>
                  <a:cubicBezTo>
                    <a:pt x="14318" y="325637"/>
                    <a:pt x="9362" y="323584"/>
                    <a:pt x="5707" y="319929"/>
                  </a:cubicBezTo>
                  <a:cubicBezTo>
                    <a:pt x="2053" y="316275"/>
                    <a:pt x="0" y="311318"/>
                    <a:pt x="0" y="306150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5336591" cy="420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Transaction Data → Alternative Credit Score → Stablecoin Loan → Build Reputation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024561" y="6358303"/>
            <a:ext cx="7837298" cy="2406776"/>
            <a:chOff x="0" y="0"/>
            <a:chExt cx="2097998" cy="644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97998" cy="644280"/>
            </a:xfrm>
            <a:custGeom>
              <a:avLst/>
              <a:gdLst/>
              <a:ahLst/>
              <a:cxnLst/>
              <a:rect r="r" b="b" t="t" l="l"/>
              <a:pathLst>
                <a:path h="644280" w="2097998">
                  <a:moveTo>
                    <a:pt x="32598" y="0"/>
                  </a:moveTo>
                  <a:lnTo>
                    <a:pt x="2065400" y="0"/>
                  </a:lnTo>
                  <a:cubicBezTo>
                    <a:pt x="2074045" y="0"/>
                    <a:pt x="2082337" y="3434"/>
                    <a:pt x="2088450" y="9548"/>
                  </a:cubicBezTo>
                  <a:cubicBezTo>
                    <a:pt x="2094564" y="15661"/>
                    <a:pt x="2097998" y="23953"/>
                    <a:pt x="2097998" y="32598"/>
                  </a:cubicBezTo>
                  <a:lnTo>
                    <a:pt x="2097998" y="611681"/>
                  </a:lnTo>
                  <a:cubicBezTo>
                    <a:pt x="2097998" y="620327"/>
                    <a:pt x="2094564" y="628618"/>
                    <a:pt x="2088450" y="634732"/>
                  </a:cubicBezTo>
                  <a:cubicBezTo>
                    <a:pt x="2082337" y="640845"/>
                    <a:pt x="2074045" y="644280"/>
                    <a:pt x="2065400" y="644280"/>
                  </a:cubicBezTo>
                  <a:lnTo>
                    <a:pt x="32598" y="644280"/>
                  </a:lnTo>
                  <a:cubicBezTo>
                    <a:pt x="23953" y="644280"/>
                    <a:pt x="15661" y="640845"/>
                    <a:pt x="9548" y="634732"/>
                  </a:cubicBezTo>
                  <a:cubicBezTo>
                    <a:pt x="3434" y="628618"/>
                    <a:pt x="0" y="620327"/>
                    <a:pt x="0" y="611681"/>
                  </a:cubicBezTo>
                  <a:lnTo>
                    <a:pt x="0" y="32598"/>
                  </a:lnTo>
                  <a:cubicBezTo>
                    <a:pt x="0" y="23953"/>
                    <a:pt x="3434" y="15661"/>
                    <a:pt x="9548" y="9548"/>
                  </a:cubicBezTo>
                  <a:cubicBezTo>
                    <a:pt x="15661" y="3434"/>
                    <a:pt x="23953" y="0"/>
                    <a:pt x="325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2097998" cy="701430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378882" y="6498247"/>
            <a:ext cx="751226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Fintech (FT) Coin Stablecoin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378882" y="7368588"/>
            <a:ext cx="7276983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Rand-pegged </a:t>
            </a:r>
          </a:p>
          <a:p>
            <a:pPr algn="just">
              <a:lnSpc>
                <a:spcPts val="3919"/>
              </a:lnSpc>
            </a:pPr>
            <a:r>
              <a:rPr lang="en-US" b="true" sz="2799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(1:1) eliminates crypto volatility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-1584054" y="6358303"/>
            <a:ext cx="7439774" cy="4513674"/>
            <a:chOff x="0" y="0"/>
            <a:chExt cx="9919699" cy="6018232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9919699" cy="6018232"/>
              <a:chOff x="0" y="0"/>
              <a:chExt cx="1991583" cy="1208284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991583" cy="1208284"/>
              </a:xfrm>
              <a:custGeom>
                <a:avLst/>
                <a:gdLst/>
                <a:ahLst/>
                <a:cxnLst/>
                <a:rect r="r" b="b" t="t" l="l"/>
                <a:pathLst>
                  <a:path h="1208284" w="1991583">
                    <a:moveTo>
                      <a:pt x="34340" y="0"/>
                    </a:moveTo>
                    <a:lnTo>
                      <a:pt x="1957243" y="0"/>
                    </a:lnTo>
                    <a:cubicBezTo>
                      <a:pt x="1966351" y="0"/>
                      <a:pt x="1975085" y="3618"/>
                      <a:pt x="1981525" y="10058"/>
                    </a:cubicBezTo>
                    <a:cubicBezTo>
                      <a:pt x="1987965" y="16498"/>
                      <a:pt x="1991583" y="25233"/>
                      <a:pt x="1991583" y="34340"/>
                    </a:cubicBezTo>
                    <a:lnTo>
                      <a:pt x="1991583" y="1173943"/>
                    </a:lnTo>
                    <a:cubicBezTo>
                      <a:pt x="1991583" y="1192909"/>
                      <a:pt x="1976209" y="1208284"/>
                      <a:pt x="1957243" y="1208284"/>
                    </a:cubicBezTo>
                    <a:lnTo>
                      <a:pt x="34340" y="1208284"/>
                    </a:lnTo>
                    <a:cubicBezTo>
                      <a:pt x="15375" y="1208284"/>
                      <a:pt x="0" y="1192909"/>
                      <a:pt x="0" y="1173943"/>
                    </a:cubicBezTo>
                    <a:lnTo>
                      <a:pt x="0" y="34340"/>
                    </a:lnTo>
                    <a:cubicBezTo>
                      <a:pt x="0" y="15375"/>
                      <a:pt x="15375" y="0"/>
                      <a:pt x="3434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57150"/>
                <a:ext cx="1991583" cy="1265434"/>
              </a:xfrm>
              <a:prstGeom prst="rect">
                <a:avLst/>
              </a:prstGeom>
            </p:spPr>
            <p:txBody>
              <a:bodyPr anchor="ctr" rtlCol="false" tIns="49980" lIns="49980" bIns="49980" rIns="4998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2184535" y="346182"/>
              <a:ext cx="7160656" cy="1858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5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Alternative </a:t>
              </a:r>
            </a:p>
            <a:p>
              <a:pPr algn="r">
                <a:lnSpc>
                  <a:spcPts val="5599"/>
                </a:lnSpc>
              </a:pPr>
              <a:r>
                <a:rPr lang="en-US" sz="39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Credit Scoring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967440" y="2576090"/>
              <a:ext cx="7373133" cy="197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19"/>
                </a:lnSpc>
              </a:pPr>
              <a:r>
                <a:rPr lang="en-US" sz="27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Open Banking API analyzes </a:t>
              </a:r>
            </a:p>
            <a:p>
              <a:pPr algn="r">
                <a:lnSpc>
                  <a:spcPts val="3919"/>
                </a:lnSpc>
              </a:pPr>
              <a:r>
                <a:rPr lang="en-US" sz="27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 months of financial behavior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01312" y="226091"/>
            <a:ext cx="1286054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Nunito Heavy"/>
                <a:ea typeface="Nunito Heavy"/>
                <a:cs typeface="Nunito Heavy"/>
                <a:sym typeface="Nunito Heavy"/>
              </a:rPr>
              <a:t>The Solution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507108"/>
            <a:ext cx="11623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61041" y="4601359"/>
            <a:ext cx="7743062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 </a:t>
            </a:r>
            <a:r>
              <a:rPr lang="en-US" b="true" sz="48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 Innovation Bridge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8700" y="1677066"/>
            <a:ext cx="14900507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 Turn Transactions into </a:t>
            </a:r>
            <a:r>
              <a:rPr lang="en-US" sz="48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Trust</a:t>
            </a: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06679" y="3580508"/>
            <a:ext cx="20715568" cy="7021543"/>
            <a:chOff x="0" y="0"/>
            <a:chExt cx="5455952" cy="18492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55952" cy="1849295"/>
            </a:xfrm>
            <a:custGeom>
              <a:avLst/>
              <a:gdLst/>
              <a:ahLst/>
              <a:cxnLst/>
              <a:rect r="r" b="b" t="t" l="l"/>
              <a:pathLst>
                <a:path h="1849295" w="5455952">
                  <a:moveTo>
                    <a:pt x="19060" y="0"/>
                  </a:moveTo>
                  <a:lnTo>
                    <a:pt x="5436892" y="0"/>
                  </a:lnTo>
                  <a:cubicBezTo>
                    <a:pt x="5447419" y="0"/>
                    <a:pt x="5455952" y="8533"/>
                    <a:pt x="5455952" y="19060"/>
                  </a:cubicBezTo>
                  <a:lnTo>
                    <a:pt x="5455952" y="1830236"/>
                  </a:lnTo>
                  <a:cubicBezTo>
                    <a:pt x="5455952" y="1835290"/>
                    <a:pt x="5453944" y="1840138"/>
                    <a:pt x="5450370" y="1843713"/>
                  </a:cubicBezTo>
                  <a:cubicBezTo>
                    <a:pt x="5446795" y="1847287"/>
                    <a:pt x="5441947" y="1849295"/>
                    <a:pt x="5436892" y="1849295"/>
                  </a:cubicBezTo>
                  <a:lnTo>
                    <a:pt x="19060" y="1849295"/>
                  </a:lnTo>
                  <a:cubicBezTo>
                    <a:pt x="8533" y="1849295"/>
                    <a:pt x="0" y="1840762"/>
                    <a:pt x="0" y="1830236"/>
                  </a:cubicBezTo>
                  <a:lnTo>
                    <a:pt x="0" y="19060"/>
                  </a:lnTo>
                  <a:cubicBezTo>
                    <a:pt x="0" y="8533"/>
                    <a:pt x="8533" y="0"/>
                    <a:pt x="19060" y="0"/>
                  </a:cubicBezTo>
                  <a:close/>
                </a:path>
              </a:pathLst>
            </a:custGeom>
            <a:solidFill>
              <a:srgbClr val="FFFFFF"/>
            </a:solidFill>
            <a:ln w="2286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455952" cy="1906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962307"/>
            <a:ext cx="16342899" cy="1236401"/>
            <a:chOff x="0" y="0"/>
            <a:chExt cx="4304303" cy="325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4303" cy="325637"/>
            </a:xfrm>
            <a:custGeom>
              <a:avLst/>
              <a:gdLst/>
              <a:ahLst/>
              <a:cxnLst/>
              <a:rect r="r" b="b" t="t" l="l"/>
              <a:pathLst>
                <a:path h="325637" w="4304303">
                  <a:moveTo>
                    <a:pt x="24160" y="0"/>
                  </a:moveTo>
                  <a:lnTo>
                    <a:pt x="4280143" y="0"/>
                  </a:lnTo>
                  <a:cubicBezTo>
                    <a:pt x="4286551" y="0"/>
                    <a:pt x="4292696" y="2545"/>
                    <a:pt x="4297226" y="7076"/>
                  </a:cubicBezTo>
                  <a:cubicBezTo>
                    <a:pt x="4301758" y="11607"/>
                    <a:pt x="4304303" y="17752"/>
                    <a:pt x="4304303" y="24160"/>
                  </a:cubicBezTo>
                  <a:lnTo>
                    <a:pt x="4304303" y="301477"/>
                  </a:lnTo>
                  <a:cubicBezTo>
                    <a:pt x="4304303" y="307885"/>
                    <a:pt x="4301758" y="314030"/>
                    <a:pt x="4297226" y="318560"/>
                  </a:cubicBezTo>
                  <a:cubicBezTo>
                    <a:pt x="4292696" y="323091"/>
                    <a:pt x="4286551" y="325637"/>
                    <a:pt x="4280143" y="325637"/>
                  </a:cubicBezTo>
                  <a:lnTo>
                    <a:pt x="24160" y="325637"/>
                  </a:lnTo>
                  <a:cubicBezTo>
                    <a:pt x="17752" y="325637"/>
                    <a:pt x="11607" y="323091"/>
                    <a:pt x="7076" y="318560"/>
                  </a:cubicBezTo>
                  <a:cubicBezTo>
                    <a:pt x="2545" y="314030"/>
                    <a:pt x="0" y="307885"/>
                    <a:pt x="0" y="301477"/>
                  </a:cubicBezTo>
                  <a:lnTo>
                    <a:pt x="0" y="24160"/>
                  </a:lnTo>
                  <a:cubicBezTo>
                    <a:pt x="0" y="17752"/>
                    <a:pt x="2545" y="11607"/>
                    <a:pt x="7076" y="7076"/>
                  </a:cubicBezTo>
                  <a:cubicBezTo>
                    <a:pt x="11607" y="2545"/>
                    <a:pt x="17752" y="0"/>
                    <a:pt x="24160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4304303" cy="411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All user interactions take place directly within the Telegram app.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507108"/>
            <a:ext cx="11623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5E17EB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681790" y="-1796941"/>
            <a:ext cx="19321614" cy="3302557"/>
            <a:chOff x="0" y="0"/>
            <a:chExt cx="5172281" cy="8840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5E17EB"/>
            </a:solidFill>
            <a:ln w="1428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46093" y="132834"/>
            <a:ext cx="1029502" cy="102950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  <a:ln w="95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381544" y="349007"/>
            <a:ext cx="180425" cy="573209"/>
            <a:chOff x="0" y="0"/>
            <a:chExt cx="216146" cy="6866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4439686">
            <a:off x="17450035" y="330980"/>
            <a:ext cx="175656" cy="163027"/>
            <a:chOff x="0" y="0"/>
            <a:chExt cx="796609" cy="7393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810705">
            <a:off x="17658428" y="362310"/>
            <a:ext cx="340863" cy="334164"/>
            <a:chOff x="0" y="0"/>
            <a:chExt cx="567564" cy="5564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17804179" y="564790"/>
            <a:ext cx="171373" cy="357426"/>
            <a:chOff x="0" y="0"/>
            <a:chExt cx="217756" cy="4541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523999" y="9258300"/>
            <a:ext cx="2047442" cy="1343751"/>
            <a:chOff x="0" y="0"/>
            <a:chExt cx="548088" cy="35971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088" cy="359714"/>
            </a:xfrm>
            <a:custGeom>
              <a:avLst/>
              <a:gdLst/>
              <a:ahLst/>
              <a:cxnLst/>
              <a:rect r="r" b="b" t="t" l="l"/>
              <a:pathLst>
                <a:path h="359714" w="548088">
                  <a:moveTo>
                    <a:pt x="179857" y="0"/>
                  </a:moveTo>
                  <a:lnTo>
                    <a:pt x="368231" y="0"/>
                  </a:lnTo>
                  <a:cubicBezTo>
                    <a:pt x="415932" y="0"/>
                    <a:pt x="461679" y="18949"/>
                    <a:pt x="495409" y="52679"/>
                  </a:cubicBezTo>
                  <a:cubicBezTo>
                    <a:pt x="529139" y="86409"/>
                    <a:pt x="548088" y="132156"/>
                    <a:pt x="548088" y="179857"/>
                  </a:cubicBezTo>
                  <a:lnTo>
                    <a:pt x="548088" y="179857"/>
                  </a:lnTo>
                  <a:cubicBezTo>
                    <a:pt x="548088" y="227558"/>
                    <a:pt x="529139" y="273306"/>
                    <a:pt x="495409" y="307035"/>
                  </a:cubicBezTo>
                  <a:cubicBezTo>
                    <a:pt x="461679" y="340765"/>
                    <a:pt x="415932" y="359714"/>
                    <a:pt x="368231" y="359714"/>
                  </a:cubicBezTo>
                  <a:lnTo>
                    <a:pt x="179857" y="359714"/>
                  </a:lnTo>
                  <a:cubicBezTo>
                    <a:pt x="132156" y="359714"/>
                    <a:pt x="86409" y="340765"/>
                    <a:pt x="52679" y="307035"/>
                  </a:cubicBezTo>
                  <a:cubicBezTo>
                    <a:pt x="18949" y="273306"/>
                    <a:pt x="0" y="227558"/>
                    <a:pt x="0" y="179857"/>
                  </a:cubicBezTo>
                  <a:lnTo>
                    <a:pt x="0" y="179857"/>
                  </a:lnTo>
                  <a:cubicBezTo>
                    <a:pt x="0" y="132156"/>
                    <a:pt x="18949" y="86409"/>
                    <a:pt x="52679" y="52679"/>
                  </a:cubicBezTo>
                  <a:cubicBezTo>
                    <a:pt x="86409" y="18949"/>
                    <a:pt x="132156" y="0"/>
                    <a:pt x="179857" y="0"/>
                  </a:cubicBezTo>
                  <a:close/>
                </a:path>
              </a:pathLst>
            </a:custGeom>
            <a:solidFill>
              <a:srgbClr val="5E17EB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548088" cy="416864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2563" y="4503509"/>
            <a:ext cx="16221436" cy="5411856"/>
            <a:chOff x="0" y="0"/>
            <a:chExt cx="21628582" cy="72158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731539" y="3596558"/>
              <a:ext cx="1769385" cy="1617180"/>
            </a:xfrm>
            <a:custGeom>
              <a:avLst/>
              <a:gdLst/>
              <a:ahLst/>
              <a:cxnLst/>
              <a:rect r="r" b="b" t="t" l="l"/>
              <a:pathLst>
                <a:path h="1617180" w="1769385">
                  <a:moveTo>
                    <a:pt x="0" y="0"/>
                  </a:moveTo>
                  <a:lnTo>
                    <a:pt x="1769385" y="0"/>
                  </a:lnTo>
                  <a:lnTo>
                    <a:pt x="1769385" y="1617179"/>
                  </a:lnTo>
                  <a:lnTo>
                    <a:pt x="0" y="1617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804501">
              <a:off x="12710961" y="3037013"/>
              <a:ext cx="2170762" cy="2070263"/>
            </a:xfrm>
            <a:custGeom>
              <a:avLst/>
              <a:gdLst/>
              <a:ahLst/>
              <a:cxnLst/>
              <a:rect r="r" b="b" t="t" l="l"/>
              <a:pathLst>
                <a:path h="2070263" w="2170762">
                  <a:moveTo>
                    <a:pt x="0" y="0"/>
                  </a:moveTo>
                  <a:lnTo>
                    <a:pt x="2170761" y="0"/>
                  </a:lnTo>
                  <a:lnTo>
                    <a:pt x="2170761" y="2070264"/>
                  </a:lnTo>
                  <a:lnTo>
                    <a:pt x="0" y="2070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true" flipV="false" rot="-2094103">
              <a:off x="2792517" y="3053911"/>
              <a:ext cx="2379127" cy="2268982"/>
            </a:xfrm>
            <a:custGeom>
              <a:avLst/>
              <a:gdLst/>
              <a:ahLst/>
              <a:cxnLst/>
              <a:rect r="r" b="b" t="t" l="l"/>
              <a:pathLst>
                <a:path h="2268982" w="2379127">
                  <a:moveTo>
                    <a:pt x="2379126" y="0"/>
                  </a:moveTo>
                  <a:lnTo>
                    <a:pt x="0" y="0"/>
                  </a:lnTo>
                  <a:lnTo>
                    <a:pt x="0" y="2268982"/>
                  </a:lnTo>
                  <a:lnTo>
                    <a:pt x="2379126" y="2268982"/>
                  </a:lnTo>
                  <a:lnTo>
                    <a:pt x="237912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1129810" y="3408766"/>
              <a:ext cx="1708811" cy="1934149"/>
            </a:xfrm>
            <a:custGeom>
              <a:avLst/>
              <a:gdLst/>
              <a:ahLst/>
              <a:cxnLst/>
              <a:rect r="r" b="b" t="t" l="l"/>
              <a:pathLst>
                <a:path h="1934149" w="1708811">
                  <a:moveTo>
                    <a:pt x="0" y="0"/>
                  </a:moveTo>
                  <a:lnTo>
                    <a:pt x="1708811" y="0"/>
                  </a:lnTo>
                  <a:lnTo>
                    <a:pt x="1708811" y="1934150"/>
                  </a:lnTo>
                  <a:lnTo>
                    <a:pt x="0" y="1934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true" rot="-1893884">
              <a:off x="2481377" y="606172"/>
              <a:ext cx="3170682" cy="3023891"/>
            </a:xfrm>
            <a:custGeom>
              <a:avLst/>
              <a:gdLst/>
              <a:ahLst/>
              <a:cxnLst/>
              <a:rect r="r" b="b" t="t" l="l"/>
              <a:pathLst>
                <a:path h="3023891" w="3170682">
                  <a:moveTo>
                    <a:pt x="0" y="3023891"/>
                  </a:moveTo>
                  <a:lnTo>
                    <a:pt x="3170682" y="3023891"/>
                  </a:lnTo>
                  <a:lnTo>
                    <a:pt x="3170682" y="0"/>
                  </a:lnTo>
                  <a:lnTo>
                    <a:pt x="0" y="0"/>
                  </a:lnTo>
                  <a:lnTo>
                    <a:pt x="0" y="3023891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39" id="39"/>
            <p:cNvGrpSpPr/>
            <p:nvPr/>
          </p:nvGrpSpPr>
          <p:grpSpPr>
            <a:xfrm rot="0">
              <a:off x="0" y="217187"/>
              <a:ext cx="2357356" cy="2662684"/>
              <a:chOff x="0" y="0"/>
              <a:chExt cx="465651" cy="52596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65651" cy="525962"/>
              </a:xfrm>
              <a:custGeom>
                <a:avLst/>
                <a:gdLst/>
                <a:ahLst/>
                <a:cxnLst/>
                <a:rect r="r" b="b" t="t" l="l"/>
                <a:pathLst>
                  <a:path h="525962" w="465651">
                    <a:moveTo>
                      <a:pt x="223322" y="0"/>
                    </a:moveTo>
                    <a:lnTo>
                      <a:pt x="242328" y="0"/>
                    </a:lnTo>
                    <a:cubicBezTo>
                      <a:pt x="301557" y="0"/>
                      <a:pt x="358360" y="23529"/>
                      <a:pt x="400241" y="65410"/>
                    </a:cubicBezTo>
                    <a:cubicBezTo>
                      <a:pt x="442122" y="107291"/>
                      <a:pt x="465651" y="164094"/>
                      <a:pt x="465651" y="223322"/>
                    </a:cubicBezTo>
                    <a:lnTo>
                      <a:pt x="465651" y="302640"/>
                    </a:lnTo>
                    <a:cubicBezTo>
                      <a:pt x="465651" y="425977"/>
                      <a:pt x="365666" y="525962"/>
                      <a:pt x="242328" y="525962"/>
                    </a:cubicBezTo>
                    <a:lnTo>
                      <a:pt x="223322" y="525962"/>
                    </a:lnTo>
                    <a:cubicBezTo>
                      <a:pt x="164094" y="525962"/>
                      <a:pt x="107291" y="502434"/>
                      <a:pt x="65410" y="460553"/>
                    </a:cubicBezTo>
                    <a:cubicBezTo>
                      <a:pt x="23529" y="418671"/>
                      <a:pt x="0" y="361869"/>
                      <a:pt x="0" y="302640"/>
                    </a:cubicBezTo>
                    <a:lnTo>
                      <a:pt x="0" y="223322"/>
                    </a:lnTo>
                    <a:cubicBezTo>
                      <a:pt x="0" y="99985"/>
                      <a:pt x="99985" y="0"/>
                      <a:pt x="22332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465651" cy="5831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287782" y="440997"/>
              <a:ext cx="1831592" cy="1677120"/>
            </a:xfrm>
            <a:custGeom>
              <a:avLst/>
              <a:gdLst/>
              <a:ahLst/>
              <a:cxnLst/>
              <a:rect r="r" b="b" t="t" l="l"/>
              <a:pathLst>
                <a:path h="1677120" w="1831592">
                  <a:moveTo>
                    <a:pt x="0" y="0"/>
                  </a:moveTo>
                  <a:lnTo>
                    <a:pt x="1831591" y="0"/>
                  </a:lnTo>
                  <a:lnTo>
                    <a:pt x="1831591" y="1677120"/>
                  </a:lnTo>
                  <a:lnTo>
                    <a:pt x="0" y="1677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365085" y="1978486"/>
              <a:ext cx="9054940" cy="1530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49"/>
                </a:lnSpc>
              </a:pPr>
              <a:r>
                <a:rPr lang="en-US" sz="24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Lenders</a:t>
              </a:r>
              <a:r>
                <a:rPr lang="en-US" sz="2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</a:p>
            <a:p>
              <a:pPr algn="l">
                <a:lnSpc>
                  <a:spcPts val="4949"/>
                </a:lnSpc>
              </a:pPr>
              <a:r>
                <a:rPr lang="en-US" sz="24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Deposits capital into </a:t>
              </a:r>
              <a:r>
                <a:rPr lang="en-US" sz="2499" b="true">
                  <a:solidFill>
                    <a:srgbClr val="5E17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Nkadime’</a:t>
              </a:r>
              <a:r>
                <a:rPr lang="en-US" sz="2499" b="true">
                  <a:solidFill>
                    <a:srgbClr val="5E17E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 Liquidity Pool</a:t>
              </a:r>
            </a:p>
          </p:txBody>
        </p:sp>
        <p:sp>
          <p:nvSpPr>
            <p:cNvPr name="AutoShape 44" id="44"/>
            <p:cNvSpPr/>
            <p:nvPr/>
          </p:nvSpPr>
          <p:spPr>
            <a:xfrm flipH="true">
              <a:off x="12740546" y="2537068"/>
              <a:ext cx="1718713" cy="1283388"/>
            </a:xfrm>
            <a:prstGeom prst="line">
              <a:avLst/>
            </a:prstGeom>
            <a:ln cap="flat" w="152400">
              <a:solidFill>
                <a:srgbClr val="5E17EB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45" id="45"/>
            <p:cNvSpPr txBox="true"/>
            <p:nvPr/>
          </p:nvSpPr>
          <p:spPr>
            <a:xfrm rot="0">
              <a:off x="11170141" y="1688343"/>
              <a:ext cx="2493415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Repayment + Interest</a:t>
              </a:r>
            </a:p>
          </p:txBody>
        </p:sp>
        <p:sp>
          <p:nvSpPr>
            <p:cNvPr name="Freeform 46" id="46"/>
            <p:cNvSpPr/>
            <p:nvPr/>
          </p:nvSpPr>
          <p:spPr>
            <a:xfrm flipH="false" flipV="false" rot="-7636782">
              <a:off x="9349727" y="2300539"/>
              <a:ext cx="2131436" cy="2032758"/>
            </a:xfrm>
            <a:custGeom>
              <a:avLst/>
              <a:gdLst/>
              <a:ahLst/>
              <a:cxnLst/>
              <a:rect r="r" b="b" t="t" l="l"/>
              <a:pathLst>
                <a:path h="2032758" w="2131436">
                  <a:moveTo>
                    <a:pt x="0" y="0"/>
                  </a:moveTo>
                  <a:lnTo>
                    <a:pt x="2131436" y="0"/>
                  </a:lnTo>
                  <a:lnTo>
                    <a:pt x="2131436" y="2032758"/>
                  </a:lnTo>
                  <a:lnTo>
                    <a:pt x="0" y="2032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9922807" y="5481199"/>
              <a:ext cx="4988084" cy="17346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Smart Contract Layer </a:t>
              </a:r>
            </a:p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Connect</a:t>
              </a:r>
              <a:r>
                <a:rPr lang="en-US" sz="24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 lenders and borrowers directly.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358171" y="4861710"/>
              <a:ext cx="2890769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Pro-Rata Distribution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14631851" y="736600"/>
              <a:ext cx="2357356" cy="2662684"/>
              <a:chOff x="0" y="0"/>
              <a:chExt cx="465651" cy="52596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65651" cy="525962"/>
              </a:xfrm>
              <a:custGeom>
                <a:avLst/>
                <a:gdLst/>
                <a:ahLst/>
                <a:cxnLst/>
                <a:rect r="r" b="b" t="t" l="l"/>
                <a:pathLst>
                  <a:path h="525962" w="465651">
                    <a:moveTo>
                      <a:pt x="223322" y="0"/>
                    </a:moveTo>
                    <a:lnTo>
                      <a:pt x="242328" y="0"/>
                    </a:lnTo>
                    <a:cubicBezTo>
                      <a:pt x="301557" y="0"/>
                      <a:pt x="358360" y="23529"/>
                      <a:pt x="400241" y="65410"/>
                    </a:cubicBezTo>
                    <a:cubicBezTo>
                      <a:pt x="442122" y="107291"/>
                      <a:pt x="465651" y="164094"/>
                      <a:pt x="465651" y="223322"/>
                    </a:cubicBezTo>
                    <a:lnTo>
                      <a:pt x="465651" y="302640"/>
                    </a:lnTo>
                    <a:cubicBezTo>
                      <a:pt x="465651" y="425977"/>
                      <a:pt x="365666" y="525962"/>
                      <a:pt x="242328" y="525962"/>
                    </a:cubicBezTo>
                    <a:lnTo>
                      <a:pt x="223322" y="525962"/>
                    </a:lnTo>
                    <a:cubicBezTo>
                      <a:pt x="164094" y="525962"/>
                      <a:pt x="107291" y="502434"/>
                      <a:pt x="65410" y="460553"/>
                    </a:cubicBezTo>
                    <a:cubicBezTo>
                      <a:pt x="23529" y="418671"/>
                      <a:pt x="0" y="361869"/>
                      <a:pt x="0" y="302640"/>
                    </a:cubicBezTo>
                    <a:lnTo>
                      <a:pt x="0" y="223322"/>
                    </a:lnTo>
                    <a:cubicBezTo>
                      <a:pt x="0" y="99985"/>
                      <a:pt x="99985" y="0"/>
                      <a:pt x="22332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465651" cy="5831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Freeform 52" id="52"/>
            <p:cNvSpPr/>
            <p:nvPr/>
          </p:nvSpPr>
          <p:spPr>
            <a:xfrm flipH="false" flipV="false" rot="0">
              <a:off x="15043439" y="1011838"/>
              <a:ext cx="1534180" cy="1613878"/>
            </a:xfrm>
            <a:custGeom>
              <a:avLst/>
              <a:gdLst/>
              <a:ahLst/>
              <a:cxnLst/>
              <a:rect r="r" b="b" t="t" l="l"/>
              <a:pathLst>
                <a:path h="1613878" w="1534180">
                  <a:moveTo>
                    <a:pt x="0" y="0"/>
                  </a:moveTo>
                  <a:lnTo>
                    <a:pt x="1534180" y="0"/>
                  </a:lnTo>
                  <a:lnTo>
                    <a:pt x="1534180" y="1613878"/>
                  </a:lnTo>
                  <a:lnTo>
                    <a:pt x="0" y="1613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 rot="0">
              <a:off x="14858764" y="2377946"/>
              <a:ext cx="6769818" cy="161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24"/>
                </a:lnSpc>
              </a:pPr>
              <a:r>
                <a:rPr lang="en-US" sz="24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Borrower</a:t>
              </a:r>
            </a:p>
            <a:p>
              <a:pPr algn="l">
                <a:lnSpc>
                  <a:spcPts val="5224"/>
                </a:lnSpc>
              </a:pPr>
              <a:r>
                <a:rPr lang="en-US" sz="24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Applies for a loan via Telegram Bot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7829752" y="9675332"/>
            <a:ext cx="26173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01312" y="226091"/>
            <a:ext cx="1286054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Nunito Heavy"/>
                <a:ea typeface="Nunito Heavy"/>
                <a:cs typeface="Nunito Heavy"/>
                <a:sym typeface="Nunito Heavy"/>
              </a:rPr>
              <a:t>The Solution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8700" y="507108"/>
            <a:ext cx="11623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1677066"/>
            <a:ext cx="14900507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1946" y="1822392"/>
            <a:ext cx="11544108" cy="7992075"/>
          </a:xfrm>
          <a:custGeom>
            <a:avLst/>
            <a:gdLst/>
            <a:ahLst/>
            <a:cxnLst/>
            <a:rect r="r" b="b" t="t" l="l"/>
            <a:pathLst>
              <a:path h="7992075" w="11544108">
                <a:moveTo>
                  <a:pt x="0" y="0"/>
                </a:moveTo>
                <a:lnTo>
                  <a:pt x="11544108" y="0"/>
                </a:lnTo>
                <a:lnTo>
                  <a:pt x="11544108" y="7992074"/>
                </a:lnTo>
                <a:lnTo>
                  <a:pt x="0" y="7992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81790" y="-1796941"/>
            <a:ext cx="19321614" cy="3302557"/>
            <a:chOff x="0" y="0"/>
            <a:chExt cx="5172281" cy="8840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5E17EB"/>
            </a:solidFill>
            <a:ln w="1428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1312" y="226091"/>
            <a:ext cx="1286054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Nunito Heavy"/>
                <a:ea typeface="Nunito Heavy"/>
                <a:cs typeface="Nunito Heavy"/>
                <a:sym typeface="Nunito Heavy"/>
              </a:rPr>
              <a:t>Technology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5E17EB"/>
            </a:solidFill>
            <a:ln w="1428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146093" y="132834"/>
            <a:ext cx="1029502" cy="102950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  <a:ln w="95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381544" y="349007"/>
            <a:ext cx="180425" cy="573209"/>
            <a:chOff x="0" y="0"/>
            <a:chExt cx="216146" cy="6866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4439686">
            <a:off x="17450035" y="330980"/>
            <a:ext cx="175656" cy="163027"/>
            <a:chOff x="0" y="0"/>
            <a:chExt cx="796609" cy="7393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810705">
            <a:off x="17658428" y="362310"/>
            <a:ext cx="340863" cy="334164"/>
            <a:chOff x="0" y="0"/>
            <a:chExt cx="567564" cy="5564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17804179" y="564790"/>
            <a:ext cx="171373" cy="357426"/>
            <a:chOff x="0" y="0"/>
            <a:chExt cx="217756" cy="4541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523999" y="9258300"/>
            <a:ext cx="2047442" cy="1343751"/>
            <a:chOff x="0" y="0"/>
            <a:chExt cx="548088" cy="3597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8088" cy="359714"/>
            </a:xfrm>
            <a:custGeom>
              <a:avLst/>
              <a:gdLst/>
              <a:ahLst/>
              <a:cxnLst/>
              <a:rect r="r" b="b" t="t" l="l"/>
              <a:pathLst>
                <a:path h="359714" w="548088">
                  <a:moveTo>
                    <a:pt x="179857" y="0"/>
                  </a:moveTo>
                  <a:lnTo>
                    <a:pt x="368231" y="0"/>
                  </a:lnTo>
                  <a:cubicBezTo>
                    <a:pt x="415932" y="0"/>
                    <a:pt x="461679" y="18949"/>
                    <a:pt x="495409" y="52679"/>
                  </a:cubicBezTo>
                  <a:cubicBezTo>
                    <a:pt x="529139" y="86409"/>
                    <a:pt x="548088" y="132156"/>
                    <a:pt x="548088" y="179857"/>
                  </a:cubicBezTo>
                  <a:lnTo>
                    <a:pt x="548088" y="179857"/>
                  </a:lnTo>
                  <a:cubicBezTo>
                    <a:pt x="548088" y="227558"/>
                    <a:pt x="529139" y="273306"/>
                    <a:pt x="495409" y="307035"/>
                  </a:cubicBezTo>
                  <a:cubicBezTo>
                    <a:pt x="461679" y="340765"/>
                    <a:pt x="415932" y="359714"/>
                    <a:pt x="368231" y="359714"/>
                  </a:cubicBezTo>
                  <a:lnTo>
                    <a:pt x="179857" y="359714"/>
                  </a:lnTo>
                  <a:cubicBezTo>
                    <a:pt x="132156" y="359714"/>
                    <a:pt x="86409" y="340765"/>
                    <a:pt x="52679" y="307035"/>
                  </a:cubicBezTo>
                  <a:cubicBezTo>
                    <a:pt x="18949" y="273306"/>
                    <a:pt x="0" y="227558"/>
                    <a:pt x="0" y="179857"/>
                  </a:cubicBezTo>
                  <a:lnTo>
                    <a:pt x="0" y="179857"/>
                  </a:lnTo>
                  <a:cubicBezTo>
                    <a:pt x="0" y="132156"/>
                    <a:pt x="18949" y="86409"/>
                    <a:pt x="52679" y="52679"/>
                  </a:cubicBezTo>
                  <a:cubicBezTo>
                    <a:pt x="86409" y="18949"/>
                    <a:pt x="132156" y="0"/>
                    <a:pt x="179857" y="0"/>
                  </a:cubicBezTo>
                  <a:close/>
                </a:path>
              </a:pathLst>
            </a:custGeom>
            <a:solidFill>
              <a:srgbClr val="5E17EB"/>
            </a:solidFill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48088" cy="416864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7829752" y="9675332"/>
            <a:ext cx="26173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1592" y="3958768"/>
            <a:ext cx="918121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5E17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Body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3840" y="4953231"/>
            <a:ext cx="3050232" cy="152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5E17EB"/>
                </a:solidFill>
                <a:latin typeface="Open Sans"/>
                <a:ea typeface="Open Sans"/>
                <a:cs typeface="Open Sans"/>
                <a:sym typeface="Open Sans"/>
              </a:rPr>
              <a:t>lorem ipsum fefef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5E17EB"/>
                </a:solidFill>
                <a:latin typeface="Open Sans"/>
                <a:ea typeface="Open Sans"/>
                <a:cs typeface="Open Sans"/>
                <a:sym typeface="Open Sans"/>
              </a:rPr>
              <a:t>fefefefefefefefe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5E17EB"/>
                </a:solidFill>
                <a:latin typeface="Open Sans"/>
                <a:ea typeface="Open Sans"/>
                <a:cs typeface="Open Sans"/>
                <a:sym typeface="Open Sans"/>
              </a:rPr>
              <a:t>efefef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552847" y="1739347"/>
            <a:ext cx="9182306" cy="8354663"/>
          </a:xfrm>
          <a:custGeom>
            <a:avLst/>
            <a:gdLst/>
            <a:ahLst/>
            <a:cxnLst/>
            <a:rect r="r" b="b" t="t" l="l"/>
            <a:pathLst>
              <a:path h="8354663" w="9182306">
                <a:moveTo>
                  <a:pt x="0" y="0"/>
                </a:moveTo>
                <a:lnTo>
                  <a:pt x="9182306" y="0"/>
                </a:lnTo>
                <a:lnTo>
                  <a:pt x="9182306" y="8354662"/>
                </a:lnTo>
                <a:lnTo>
                  <a:pt x="0" y="83546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57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2681790" y="-1796941"/>
            <a:ext cx="19321614" cy="3302557"/>
            <a:chOff x="0" y="0"/>
            <a:chExt cx="5172281" cy="884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5E17EB"/>
            </a:solidFill>
            <a:ln w="1428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01312" y="226091"/>
            <a:ext cx="1286054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Nunito Heavy"/>
                <a:ea typeface="Nunito Heavy"/>
                <a:cs typeface="Nunito Heavy"/>
                <a:sym typeface="Nunito Heavy"/>
              </a:rPr>
              <a:t>Smart Contract Architecture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5E17EB"/>
            </a:solidFill>
            <a:ln w="1428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146093" y="132834"/>
            <a:ext cx="1029502" cy="102950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  <a:ln w="95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381544" y="349007"/>
            <a:ext cx="180425" cy="573209"/>
            <a:chOff x="0" y="0"/>
            <a:chExt cx="216146" cy="6866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4439686">
            <a:off x="17450035" y="330980"/>
            <a:ext cx="175656" cy="163027"/>
            <a:chOff x="0" y="0"/>
            <a:chExt cx="796609" cy="7393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810705">
            <a:off x="17658428" y="362310"/>
            <a:ext cx="340863" cy="334164"/>
            <a:chOff x="0" y="0"/>
            <a:chExt cx="567564" cy="5564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17804179" y="564790"/>
            <a:ext cx="171373" cy="357426"/>
            <a:chOff x="0" y="0"/>
            <a:chExt cx="217756" cy="4541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523999" y="9258300"/>
            <a:ext cx="2047442" cy="1343751"/>
            <a:chOff x="0" y="0"/>
            <a:chExt cx="548088" cy="3597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088" cy="359714"/>
            </a:xfrm>
            <a:custGeom>
              <a:avLst/>
              <a:gdLst/>
              <a:ahLst/>
              <a:cxnLst/>
              <a:rect r="r" b="b" t="t" l="l"/>
              <a:pathLst>
                <a:path h="359714" w="548088">
                  <a:moveTo>
                    <a:pt x="179857" y="0"/>
                  </a:moveTo>
                  <a:lnTo>
                    <a:pt x="368231" y="0"/>
                  </a:lnTo>
                  <a:cubicBezTo>
                    <a:pt x="415932" y="0"/>
                    <a:pt x="461679" y="18949"/>
                    <a:pt x="495409" y="52679"/>
                  </a:cubicBezTo>
                  <a:cubicBezTo>
                    <a:pt x="529139" y="86409"/>
                    <a:pt x="548088" y="132156"/>
                    <a:pt x="548088" y="179857"/>
                  </a:cubicBezTo>
                  <a:lnTo>
                    <a:pt x="548088" y="179857"/>
                  </a:lnTo>
                  <a:cubicBezTo>
                    <a:pt x="548088" y="227558"/>
                    <a:pt x="529139" y="273306"/>
                    <a:pt x="495409" y="307035"/>
                  </a:cubicBezTo>
                  <a:cubicBezTo>
                    <a:pt x="461679" y="340765"/>
                    <a:pt x="415932" y="359714"/>
                    <a:pt x="368231" y="359714"/>
                  </a:cubicBezTo>
                  <a:lnTo>
                    <a:pt x="179857" y="359714"/>
                  </a:lnTo>
                  <a:cubicBezTo>
                    <a:pt x="132156" y="359714"/>
                    <a:pt x="86409" y="340765"/>
                    <a:pt x="52679" y="307035"/>
                  </a:cubicBezTo>
                  <a:cubicBezTo>
                    <a:pt x="18949" y="273306"/>
                    <a:pt x="0" y="227558"/>
                    <a:pt x="0" y="179857"/>
                  </a:cubicBezTo>
                  <a:lnTo>
                    <a:pt x="0" y="179857"/>
                  </a:lnTo>
                  <a:cubicBezTo>
                    <a:pt x="0" y="132156"/>
                    <a:pt x="18949" y="86409"/>
                    <a:pt x="52679" y="52679"/>
                  </a:cubicBezTo>
                  <a:cubicBezTo>
                    <a:pt x="86409" y="18949"/>
                    <a:pt x="132156" y="0"/>
                    <a:pt x="179857" y="0"/>
                  </a:cubicBezTo>
                  <a:close/>
                </a:path>
              </a:pathLst>
            </a:custGeom>
            <a:solidFill>
              <a:srgbClr val="5E17EB"/>
            </a:solidFill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48088" cy="416864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7829848" y="9675495"/>
            <a:ext cx="321028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81790" y="-1796941"/>
            <a:ext cx="19321614" cy="3302557"/>
            <a:chOff x="0" y="0"/>
            <a:chExt cx="5172281" cy="884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6093" y="132834"/>
            <a:ext cx="1029502" cy="10295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381544" y="349007"/>
            <a:ext cx="180425" cy="573209"/>
            <a:chOff x="0" y="0"/>
            <a:chExt cx="216146" cy="6866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439686">
            <a:off x="17450035" y="330980"/>
            <a:ext cx="175656" cy="163027"/>
            <a:chOff x="0" y="0"/>
            <a:chExt cx="796609" cy="739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810705">
            <a:off x="17658428" y="362310"/>
            <a:ext cx="340863" cy="334164"/>
            <a:chOff x="0" y="0"/>
            <a:chExt cx="567564" cy="5564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7804179" y="564790"/>
            <a:ext cx="171373" cy="357426"/>
            <a:chOff x="0" y="0"/>
            <a:chExt cx="217756" cy="4541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01312" y="226091"/>
            <a:ext cx="1286054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000000"/>
                </a:solidFill>
                <a:latin typeface="Nunito Heavy"/>
                <a:ea typeface="Nunito Heavy"/>
                <a:cs typeface="Nunito Heavy"/>
                <a:sym typeface="Nunito Heavy"/>
              </a:rPr>
              <a:t>Why Now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523999" y="9258300"/>
            <a:ext cx="2047442" cy="1343751"/>
            <a:chOff x="0" y="0"/>
            <a:chExt cx="548088" cy="3597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088" cy="359714"/>
            </a:xfrm>
            <a:custGeom>
              <a:avLst/>
              <a:gdLst/>
              <a:ahLst/>
              <a:cxnLst/>
              <a:rect r="r" b="b" t="t" l="l"/>
              <a:pathLst>
                <a:path h="359714" w="548088">
                  <a:moveTo>
                    <a:pt x="179857" y="0"/>
                  </a:moveTo>
                  <a:lnTo>
                    <a:pt x="368231" y="0"/>
                  </a:lnTo>
                  <a:cubicBezTo>
                    <a:pt x="415932" y="0"/>
                    <a:pt x="461679" y="18949"/>
                    <a:pt x="495409" y="52679"/>
                  </a:cubicBezTo>
                  <a:cubicBezTo>
                    <a:pt x="529139" y="86409"/>
                    <a:pt x="548088" y="132156"/>
                    <a:pt x="548088" y="179857"/>
                  </a:cubicBezTo>
                  <a:lnTo>
                    <a:pt x="548088" y="179857"/>
                  </a:lnTo>
                  <a:cubicBezTo>
                    <a:pt x="548088" y="227558"/>
                    <a:pt x="529139" y="273306"/>
                    <a:pt x="495409" y="307035"/>
                  </a:cubicBezTo>
                  <a:cubicBezTo>
                    <a:pt x="461679" y="340765"/>
                    <a:pt x="415932" y="359714"/>
                    <a:pt x="368231" y="359714"/>
                  </a:cubicBezTo>
                  <a:lnTo>
                    <a:pt x="179857" y="359714"/>
                  </a:lnTo>
                  <a:cubicBezTo>
                    <a:pt x="132156" y="359714"/>
                    <a:pt x="86409" y="340765"/>
                    <a:pt x="52679" y="307035"/>
                  </a:cubicBezTo>
                  <a:cubicBezTo>
                    <a:pt x="18949" y="273306"/>
                    <a:pt x="0" y="227558"/>
                    <a:pt x="0" y="179857"/>
                  </a:cubicBezTo>
                  <a:lnTo>
                    <a:pt x="0" y="179857"/>
                  </a:lnTo>
                  <a:cubicBezTo>
                    <a:pt x="0" y="132156"/>
                    <a:pt x="18949" y="86409"/>
                    <a:pt x="52679" y="52679"/>
                  </a:cubicBezTo>
                  <a:cubicBezTo>
                    <a:pt x="86409" y="18949"/>
                    <a:pt x="132156" y="0"/>
                    <a:pt x="179857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48088" cy="416864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829752" y="9675332"/>
            <a:ext cx="26173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72923" y="2948736"/>
            <a:ext cx="7239824" cy="2937188"/>
            <a:chOff x="0" y="0"/>
            <a:chExt cx="1906785" cy="7735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6785" cy="773580"/>
            </a:xfrm>
            <a:custGeom>
              <a:avLst/>
              <a:gdLst/>
              <a:ahLst/>
              <a:cxnLst/>
              <a:rect r="r" b="b" t="t" l="l"/>
              <a:pathLst>
                <a:path h="773580" w="1906785">
                  <a:moveTo>
                    <a:pt x="54537" y="0"/>
                  </a:moveTo>
                  <a:lnTo>
                    <a:pt x="1852248" y="0"/>
                  </a:lnTo>
                  <a:cubicBezTo>
                    <a:pt x="1866712" y="0"/>
                    <a:pt x="1880584" y="5746"/>
                    <a:pt x="1890812" y="15974"/>
                  </a:cubicBezTo>
                  <a:cubicBezTo>
                    <a:pt x="1901039" y="26201"/>
                    <a:pt x="1906785" y="40073"/>
                    <a:pt x="1906785" y="54537"/>
                  </a:cubicBezTo>
                  <a:lnTo>
                    <a:pt x="1906785" y="719044"/>
                  </a:lnTo>
                  <a:cubicBezTo>
                    <a:pt x="1906785" y="749163"/>
                    <a:pt x="1882368" y="773580"/>
                    <a:pt x="1852248" y="773580"/>
                  </a:cubicBezTo>
                  <a:lnTo>
                    <a:pt x="54537" y="773580"/>
                  </a:lnTo>
                  <a:cubicBezTo>
                    <a:pt x="24417" y="773580"/>
                    <a:pt x="0" y="749163"/>
                    <a:pt x="0" y="719044"/>
                  </a:cubicBezTo>
                  <a:lnTo>
                    <a:pt x="0" y="54537"/>
                  </a:lnTo>
                  <a:cubicBezTo>
                    <a:pt x="0" y="24417"/>
                    <a:pt x="24417" y="0"/>
                    <a:pt x="545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906785" cy="821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936567" y="3328922"/>
            <a:ext cx="6375333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Regulatory Clarity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FSCA Open Finance (</a:t>
            </a: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2024) + IFWG sandbox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900061" y="2946178"/>
            <a:ext cx="6684922" cy="2937188"/>
            <a:chOff x="0" y="0"/>
            <a:chExt cx="1760638" cy="7735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60638" cy="773580"/>
            </a:xfrm>
            <a:custGeom>
              <a:avLst/>
              <a:gdLst/>
              <a:ahLst/>
              <a:cxnLst/>
              <a:rect r="r" b="b" t="t" l="l"/>
              <a:pathLst>
                <a:path h="773580" w="1760638">
                  <a:moveTo>
                    <a:pt x="59064" y="0"/>
                  </a:moveTo>
                  <a:lnTo>
                    <a:pt x="1701574" y="0"/>
                  </a:lnTo>
                  <a:cubicBezTo>
                    <a:pt x="1717239" y="0"/>
                    <a:pt x="1732262" y="6223"/>
                    <a:pt x="1743339" y="17299"/>
                  </a:cubicBezTo>
                  <a:cubicBezTo>
                    <a:pt x="1754415" y="28376"/>
                    <a:pt x="1760638" y="43399"/>
                    <a:pt x="1760638" y="59064"/>
                  </a:cubicBezTo>
                  <a:lnTo>
                    <a:pt x="1760638" y="714517"/>
                  </a:lnTo>
                  <a:cubicBezTo>
                    <a:pt x="1760638" y="730181"/>
                    <a:pt x="1754415" y="745204"/>
                    <a:pt x="1743339" y="756281"/>
                  </a:cubicBezTo>
                  <a:cubicBezTo>
                    <a:pt x="1732262" y="767358"/>
                    <a:pt x="1717239" y="773580"/>
                    <a:pt x="1701574" y="773580"/>
                  </a:cubicBezTo>
                  <a:lnTo>
                    <a:pt x="59064" y="773580"/>
                  </a:lnTo>
                  <a:cubicBezTo>
                    <a:pt x="43399" y="773580"/>
                    <a:pt x="28376" y="767358"/>
                    <a:pt x="17299" y="756281"/>
                  </a:cubicBezTo>
                  <a:cubicBezTo>
                    <a:pt x="6223" y="745204"/>
                    <a:pt x="0" y="730181"/>
                    <a:pt x="0" y="714517"/>
                  </a:cubicBezTo>
                  <a:lnTo>
                    <a:pt x="0" y="59064"/>
                  </a:lnTo>
                  <a:cubicBezTo>
                    <a:pt x="0" y="43399"/>
                    <a:pt x="6223" y="28376"/>
                    <a:pt x="17299" y="17299"/>
                  </a:cubicBezTo>
                  <a:cubicBezTo>
                    <a:pt x="28376" y="6223"/>
                    <a:pt x="43399" y="0"/>
                    <a:pt x="590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760638" cy="821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465949" y="3328922"/>
            <a:ext cx="6119034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Technology Maturity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XRPL EVM Sidech</a:t>
            </a: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ain + ABSA API live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79964" y="6049181"/>
            <a:ext cx="7232783" cy="2937188"/>
            <a:chOff x="0" y="0"/>
            <a:chExt cx="1904931" cy="7735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4931" cy="773580"/>
            </a:xfrm>
            <a:custGeom>
              <a:avLst/>
              <a:gdLst/>
              <a:ahLst/>
              <a:cxnLst/>
              <a:rect r="r" b="b" t="t" l="l"/>
              <a:pathLst>
                <a:path h="773580" w="1904931">
                  <a:moveTo>
                    <a:pt x="54590" y="0"/>
                  </a:moveTo>
                  <a:lnTo>
                    <a:pt x="1850341" y="0"/>
                  </a:lnTo>
                  <a:cubicBezTo>
                    <a:pt x="1880490" y="0"/>
                    <a:pt x="1904931" y="24441"/>
                    <a:pt x="1904931" y="54590"/>
                  </a:cubicBezTo>
                  <a:lnTo>
                    <a:pt x="1904931" y="718990"/>
                  </a:lnTo>
                  <a:cubicBezTo>
                    <a:pt x="1904931" y="749140"/>
                    <a:pt x="1880490" y="773580"/>
                    <a:pt x="1850341" y="773580"/>
                  </a:cubicBezTo>
                  <a:lnTo>
                    <a:pt x="54590" y="773580"/>
                  </a:lnTo>
                  <a:cubicBezTo>
                    <a:pt x="24441" y="773580"/>
                    <a:pt x="0" y="749140"/>
                    <a:pt x="0" y="718990"/>
                  </a:cubicBezTo>
                  <a:lnTo>
                    <a:pt x="0" y="54590"/>
                  </a:lnTo>
                  <a:cubicBezTo>
                    <a:pt x="0" y="24441"/>
                    <a:pt x="24441" y="0"/>
                    <a:pt x="54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904931" cy="821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936567" y="6431925"/>
            <a:ext cx="6369133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Market Validation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Optasia R4</a:t>
            </a: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.7B + Absa-Ripple partnership (Oct 2025)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900061" y="6049181"/>
            <a:ext cx="6684922" cy="2937188"/>
            <a:chOff x="0" y="0"/>
            <a:chExt cx="1760638" cy="7735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60638" cy="773580"/>
            </a:xfrm>
            <a:custGeom>
              <a:avLst/>
              <a:gdLst/>
              <a:ahLst/>
              <a:cxnLst/>
              <a:rect r="r" b="b" t="t" l="l"/>
              <a:pathLst>
                <a:path h="773580" w="1760638">
                  <a:moveTo>
                    <a:pt x="59064" y="0"/>
                  </a:moveTo>
                  <a:lnTo>
                    <a:pt x="1701574" y="0"/>
                  </a:lnTo>
                  <a:cubicBezTo>
                    <a:pt x="1717239" y="0"/>
                    <a:pt x="1732262" y="6223"/>
                    <a:pt x="1743339" y="17299"/>
                  </a:cubicBezTo>
                  <a:cubicBezTo>
                    <a:pt x="1754415" y="28376"/>
                    <a:pt x="1760638" y="43399"/>
                    <a:pt x="1760638" y="59064"/>
                  </a:cubicBezTo>
                  <a:lnTo>
                    <a:pt x="1760638" y="714517"/>
                  </a:lnTo>
                  <a:cubicBezTo>
                    <a:pt x="1760638" y="730181"/>
                    <a:pt x="1754415" y="745204"/>
                    <a:pt x="1743339" y="756281"/>
                  </a:cubicBezTo>
                  <a:cubicBezTo>
                    <a:pt x="1732262" y="767358"/>
                    <a:pt x="1717239" y="773580"/>
                    <a:pt x="1701574" y="773580"/>
                  </a:cubicBezTo>
                  <a:lnTo>
                    <a:pt x="59064" y="773580"/>
                  </a:lnTo>
                  <a:cubicBezTo>
                    <a:pt x="43399" y="773580"/>
                    <a:pt x="28376" y="767358"/>
                    <a:pt x="17299" y="756281"/>
                  </a:cubicBezTo>
                  <a:cubicBezTo>
                    <a:pt x="6223" y="745204"/>
                    <a:pt x="0" y="730181"/>
                    <a:pt x="0" y="714517"/>
                  </a:cubicBezTo>
                  <a:lnTo>
                    <a:pt x="0" y="59064"/>
                  </a:lnTo>
                  <a:cubicBezTo>
                    <a:pt x="0" y="43399"/>
                    <a:pt x="6223" y="28376"/>
                    <a:pt x="17299" y="17299"/>
                  </a:cubicBezTo>
                  <a:cubicBezTo>
                    <a:pt x="28376" y="6223"/>
                    <a:pt x="43399" y="0"/>
                    <a:pt x="590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760638" cy="821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465949" y="6431925"/>
            <a:ext cx="5886691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4. Sustained Demand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32</a:t>
            </a: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.9% unemployment = 13M excluded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026427" y="9272120"/>
            <a:ext cx="14235146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window is open</a:t>
            </a:r>
            <a:r>
              <a:rPr lang="en-US" sz="3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. First mover advantage matters.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1677066"/>
            <a:ext cx="14900507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48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Perfect Storm of Enablers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81790" y="-1796941"/>
            <a:ext cx="19321614" cy="3302557"/>
            <a:chOff x="0" y="0"/>
            <a:chExt cx="5172281" cy="884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6093" y="132834"/>
            <a:ext cx="1029502" cy="10295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381544" y="349007"/>
            <a:ext cx="180425" cy="573209"/>
            <a:chOff x="0" y="0"/>
            <a:chExt cx="216146" cy="6866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439686">
            <a:off x="17450035" y="330980"/>
            <a:ext cx="175656" cy="163027"/>
            <a:chOff x="0" y="0"/>
            <a:chExt cx="796609" cy="739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810705">
            <a:off x="17658428" y="362310"/>
            <a:ext cx="340863" cy="334164"/>
            <a:chOff x="0" y="0"/>
            <a:chExt cx="567564" cy="5564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7804179" y="564790"/>
            <a:ext cx="171373" cy="357426"/>
            <a:chOff x="0" y="0"/>
            <a:chExt cx="217756" cy="4541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01312" y="226091"/>
            <a:ext cx="1286054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000000"/>
                </a:solidFill>
                <a:latin typeface="Nunito Heavy"/>
                <a:ea typeface="Nunito Heavy"/>
                <a:cs typeface="Nunito Heavy"/>
                <a:sym typeface="Nunito Heavy"/>
              </a:rPr>
              <a:t>Competitive Landscape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523999" y="9258300"/>
            <a:ext cx="2047442" cy="1343751"/>
            <a:chOff x="0" y="0"/>
            <a:chExt cx="548088" cy="3597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088" cy="359714"/>
            </a:xfrm>
            <a:custGeom>
              <a:avLst/>
              <a:gdLst/>
              <a:ahLst/>
              <a:cxnLst/>
              <a:rect r="r" b="b" t="t" l="l"/>
              <a:pathLst>
                <a:path h="359714" w="548088">
                  <a:moveTo>
                    <a:pt x="179857" y="0"/>
                  </a:moveTo>
                  <a:lnTo>
                    <a:pt x="368231" y="0"/>
                  </a:lnTo>
                  <a:cubicBezTo>
                    <a:pt x="415932" y="0"/>
                    <a:pt x="461679" y="18949"/>
                    <a:pt x="495409" y="52679"/>
                  </a:cubicBezTo>
                  <a:cubicBezTo>
                    <a:pt x="529139" y="86409"/>
                    <a:pt x="548088" y="132156"/>
                    <a:pt x="548088" y="179857"/>
                  </a:cubicBezTo>
                  <a:lnTo>
                    <a:pt x="548088" y="179857"/>
                  </a:lnTo>
                  <a:cubicBezTo>
                    <a:pt x="548088" y="227558"/>
                    <a:pt x="529139" y="273306"/>
                    <a:pt x="495409" y="307035"/>
                  </a:cubicBezTo>
                  <a:cubicBezTo>
                    <a:pt x="461679" y="340765"/>
                    <a:pt x="415932" y="359714"/>
                    <a:pt x="368231" y="359714"/>
                  </a:cubicBezTo>
                  <a:lnTo>
                    <a:pt x="179857" y="359714"/>
                  </a:lnTo>
                  <a:cubicBezTo>
                    <a:pt x="132156" y="359714"/>
                    <a:pt x="86409" y="340765"/>
                    <a:pt x="52679" y="307035"/>
                  </a:cubicBezTo>
                  <a:cubicBezTo>
                    <a:pt x="18949" y="273306"/>
                    <a:pt x="0" y="227558"/>
                    <a:pt x="0" y="179857"/>
                  </a:cubicBezTo>
                  <a:lnTo>
                    <a:pt x="0" y="179857"/>
                  </a:lnTo>
                  <a:cubicBezTo>
                    <a:pt x="0" y="132156"/>
                    <a:pt x="18949" y="86409"/>
                    <a:pt x="52679" y="52679"/>
                  </a:cubicBezTo>
                  <a:cubicBezTo>
                    <a:pt x="86409" y="18949"/>
                    <a:pt x="132156" y="0"/>
                    <a:pt x="179857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48088" cy="416864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829752" y="9675332"/>
            <a:ext cx="26173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66088" y="7514073"/>
            <a:ext cx="7073736" cy="1374627"/>
            <a:chOff x="0" y="0"/>
            <a:chExt cx="1289541" cy="2505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9541" cy="250594"/>
            </a:xfrm>
            <a:custGeom>
              <a:avLst/>
              <a:gdLst/>
              <a:ahLst/>
              <a:cxnLst/>
              <a:rect r="r" b="b" t="t" l="l"/>
              <a:pathLst>
                <a:path h="250594" w="1289541">
                  <a:moveTo>
                    <a:pt x="55817" y="0"/>
                  </a:moveTo>
                  <a:lnTo>
                    <a:pt x="1233724" y="0"/>
                  </a:lnTo>
                  <a:cubicBezTo>
                    <a:pt x="1264551" y="0"/>
                    <a:pt x="1289541" y="24990"/>
                    <a:pt x="1289541" y="55817"/>
                  </a:cubicBezTo>
                  <a:lnTo>
                    <a:pt x="1289541" y="194777"/>
                  </a:lnTo>
                  <a:cubicBezTo>
                    <a:pt x="1289541" y="225604"/>
                    <a:pt x="1264551" y="250594"/>
                    <a:pt x="1233724" y="250594"/>
                  </a:cubicBezTo>
                  <a:lnTo>
                    <a:pt x="55817" y="250594"/>
                  </a:lnTo>
                  <a:cubicBezTo>
                    <a:pt x="41014" y="250594"/>
                    <a:pt x="26816" y="244714"/>
                    <a:pt x="16349" y="234246"/>
                  </a:cubicBezTo>
                  <a:cubicBezTo>
                    <a:pt x="5881" y="223778"/>
                    <a:pt x="0" y="209581"/>
                    <a:pt x="0" y="194777"/>
                  </a:cubicBezTo>
                  <a:lnTo>
                    <a:pt x="0" y="55817"/>
                  </a:lnTo>
                  <a:cubicBezTo>
                    <a:pt x="0" y="41014"/>
                    <a:pt x="5881" y="26816"/>
                    <a:pt x="16349" y="16349"/>
                  </a:cubicBezTo>
                  <a:cubicBezTo>
                    <a:pt x="26816" y="5881"/>
                    <a:pt x="41014" y="0"/>
                    <a:pt x="55817" y="0"/>
                  </a:cubicBezTo>
                  <a:close/>
                </a:path>
              </a:pathLst>
            </a:custGeom>
            <a:solidFill>
              <a:srgbClr val="5E17EB"/>
            </a:solidFill>
            <a:ln w="857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289541" cy="298219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178853" y="7841024"/>
            <a:ext cx="6611457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Stablecoin Liquidity Pools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338830" y="10151160"/>
            <a:ext cx="26173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-108165" y="1818626"/>
            <a:ext cx="5258340" cy="3087096"/>
            <a:chOff x="0" y="0"/>
            <a:chExt cx="7011121" cy="411612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7011121" cy="4116128"/>
              <a:chOff x="0" y="0"/>
              <a:chExt cx="958595" cy="56277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58595" cy="562777"/>
              </a:xfrm>
              <a:custGeom>
                <a:avLst/>
                <a:gdLst/>
                <a:ahLst/>
                <a:cxnLst/>
                <a:rect r="r" b="b" t="t" l="l"/>
                <a:pathLst>
                  <a:path h="562777" w="958595">
                    <a:moveTo>
                      <a:pt x="75088" y="0"/>
                    </a:moveTo>
                    <a:lnTo>
                      <a:pt x="883507" y="0"/>
                    </a:lnTo>
                    <a:cubicBezTo>
                      <a:pt x="903421" y="0"/>
                      <a:pt x="922520" y="7911"/>
                      <a:pt x="936602" y="21993"/>
                    </a:cubicBezTo>
                    <a:cubicBezTo>
                      <a:pt x="950684" y="36074"/>
                      <a:pt x="958595" y="55173"/>
                      <a:pt x="958595" y="75088"/>
                    </a:cubicBezTo>
                    <a:lnTo>
                      <a:pt x="958595" y="487689"/>
                    </a:lnTo>
                    <a:cubicBezTo>
                      <a:pt x="958595" y="529159"/>
                      <a:pt x="924977" y="562777"/>
                      <a:pt x="883507" y="562777"/>
                    </a:cubicBezTo>
                    <a:lnTo>
                      <a:pt x="75088" y="562777"/>
                    </a:lnTo>
                    <a:cubicBezTo>
                      <a:pt x="55173" y="562777"/>
                      <a:pt x="36074" y="554866"/>
                      <a:pt x="21993" y="540784"/>
                    </a:cubicBezTo>
                    <a:cubicBezTo>
                      <a:pt x="7911" y="526703"/>
                      <a:pt x="0" y="507604"/>
                      <a:pt x="0" y="487689"/>
                    </a:cubicBezTo>
                    <a:lnTo>
                      <a:pt x="0" y="75088"/>
                    </a:lnTo>
                    <a:cubicBezTo>
                      <a:pt x="0" y="33618"/>
                      <a:pt x="33618" y="0"/>
                      <a:pt x="75088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857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958595" cy="610402"/>
              </a:xfrm>
              <a:prstGeom prst="rect">
                <a:avLst/>
              </a:prstGeom>
            </p:spPr>
            <p:txBody>
              <a:bodyPr anchor="ctr" rtlCol="false" tIns="73392" lIns="73392" bIns="73392" rIns="73392"/>
              <a:lstStyle/>
              <a:p>
                <a:pPr algn="ctr" marL="0" indent="0" lvl="0">
                  <a:lnSpc>
                    <a:spcPts val="324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616371" y="466717"/>
              <a:ext cx="5518910" cy="1627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</a:pPr>
              <a:r>
                <a:rPr lang="en-US" b="true" sz="34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Alternative Credit Scoring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16371" y="2161961"/>
              <a:ext cx="5518910" cy="1362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JUMO, Lula, Optasia </a:t>
              </a:r>
            </a:p>
            <a:p>
              <a:pPr algn="l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(no institutional pool)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64501" y="2008714"/>
            <a:ext cx="6299416" cy="2706921"/>
            <a:chOff x="0" y="0"/>
            <a:chExt cx="1148383" cy="49347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48383" cy="493471"/>
            </a:xfrm>
            <a:custGeom>
              <a:avLst/>
              <a:gdLst/>
              <a:ahLst/>
              <a:cxnLst/>
              <a:rect r="r" b="b" t="t" l="l"/>
              <a:pathLst>
                <a:path h="493471" w="1148383">
                  <a:moveTo>
                    <a:pt x="62678" y="0"/>
                  </a:moveTo>
                  <a:lnTo>
                    <a:pt x="1085704" y="0"/>
                  </a:lnTo>
                  <a:cubicBezTo>
                    <a:pt x="1102327" y="0"/>
                    <a:pt x="1118270" y="6604"/>
                    <a:pt x="1130024" y="18358"/>
                  </a:cubicBezTo>
                  <a:cubicBezTo>
                    <a:pt x="1141779" y="30113"/>
                    <a:pt x="1148383" y="46055"/>
                    <a:pt x="1148383" y="62678"/>
                  </a:cubicBezTo>
                  <a:lnTo>
                    <a:pt x="1148383" y="430793"/>
                  </a:lnTo>
                  <a:cubicBezTo>
                    <a:pt x="1148383" y="465409"/>
                    <a:pt x="1120320" y="493471"/>
                    <a:pt x="1085704" y="493471"/>
                  </a:cubicBezTo>
                  <a:lnTo>
                    <a:pt x="62678" y="493471"/>
                  </a:lnTo>
                  <a:cubicBezTo>
                    <a:pt x="46055" y="493471"/>
                    <a:pt x="30113" y="486868"/>
                    <a:pt x="18358" y="475113"/>
                  </a:cubicBezTo>
                  <a:cubicBezTo>
                    <a:pt x="6604" y="463359"/>
                    <a:pt x="0" y="447416"/>
                    <a:pt x="0" y="430793"/>
                  </a:cubicBezTo>
                  <a:lnTo>
                    <a:pt x="0" y="62678"/>
                  </a:lnTo>
                  <a:cubicBezTo>
                    <a:pt x="0" y="46055"/>
                    <a:pt x="6604" y="30113"/>
                    <a:pt x="18358" y="18358"/>
                  </a:cubicBezTo>
                  <a:cubicBezTo>
                    <a:pt x="30113" y="6604"/>
                    <a:pt x="46055" y="0"/>
                    <a:pt x="626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148383" cy="541096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955983" y="3252977"/>
            <a:ext cx="388644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ABSA ChatWallet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(banking, not lending)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955983" y="2311167"/>
            <a:ext cx="6279338" cy="62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Conversational Finance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2080371" y="1818626"/>
            <a:ext cx="6594248" cy="3087096"/>
            <a:chOff x="0" y="0"/>
            <a:chExt cx="8792331" cy="4116128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8565029" cy="4116128"/>
              <a:chOff x="0" y="0"/>
              <a:chExt cx="1171053" cy="56277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171053" cy="562777"/>
              </a:xfrm>
              <a:custGeom>
                <a:avLst/>
                <a:gdLst/>
                <a:ahLst/>
                <a:cxnLst/>
                <a:rect r="r" b="b" t="t" l="l"/>
                <a:pathLst>
                  <a:path h="562777" w="1171053">
                    <a:moveTo>
                      <a:pt x="87979" y="0"/>
                    </a:moveTo>
                    <a:lnTo>
                      <a:pt x="1083073" y="0"/>
                    </a:lnTo>
                    <a:cubicBezTo>
                      <a:pt x="1131663" y="0"/>
                      <a:pt x="1171053" y="39390"/>
                      <a:pt x="1171053" y="87979"/>
                    </a:cubicBezTo>
                    <a:lnTo>
                      <a:pt x="1171053" y="474798"/>
                    </a:lnTo>
                    <a:cubicBezTo>
                      <a:pt x="1171053" y="498131"/>
                      <a:pt x="1161783" y="520509"/>
                      <a:pt x="1145284" y="537008"/>
                    </a:cubicBezTo>
                    <a:cubicBezTo>
                      <a:pt x="1128785" y="553508"/>
                      <a:pt x="1106407" y="562777"/>
                      <a:pt x="1083073" y="562777"/>
                    </a:cubicBezTo>
                    <a:lnTo>
                      <a:pt x="87979" y="562777"/>
                    </a:lnTo>
                    <a:cubicBezTo>
                      <a:pt x="64646" y="562777"/>
                      <a:pt x="42268" y="553508"/>
                      <a:pt x="25769" y="537008"/>
                    </a:cubicBezTo>
                    <a:cubicBezTo>
                      <a:pt x="9269" y="520509"/>
                      <a:pt x="0" y="498131"/>
                      <a:pt x="0" y="474798"/>
                    </a:cubicBezTo>
                    <a:lnTo>
                      <a:pt x="0" y="87979"/>
                    </a:lnTo>
                    <a:cubicBezTo>
                      <a:pt x="0" y="64646"/>
                      <a:pt x="9269" y="42268"/>
                      <a:pt x="25769" y="25769"/>
                    </a:cubicBezTo>
                    <a:cubicBezTo>
                      <a:pt x="42268" y="9269"/>
                      <a:pt x="64646" y="0"/>
                      <a:pt x="879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7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1171053" cy="610402"/>
              </a:xfrm>
              <a:prstGeom prst="rect">
                <a:avLst/>
              </a:prstGeom>
            </p:spPr>
            <p:txBody>
              <a:bodyPr anchor="ctr" rtlCol="false" tIns="73392" lIns="73392" bIns="73392" rIns="73392"/>
              <a:lstStyle/>
              <a:p>
                <a:pPr algn="ctr">
                  <a:lnSpc>
                    <a:spcPts val="324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587060" y="1357101"/>
              <a:ext cx="8205270" cy="2060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 strike="noStrike" u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Maple Finance (over-collaterised, not inclusion focused)</a:t>
              </a:r>
            </a:p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 strike="noStrike" u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RainFin (closed, no stablecoin)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339416" y="252547"/>
              <a:ext cx="6309990" cy="802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Blockchain Lending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594576" y="5000972"/>
            <a:ext cx="15098849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48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We are Different - </a:t>
            </a:r>
            <a:r>
              <a:rPr lang="en-US" sz="48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One Platform, All Elements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785002" y="7514073"/>
            <a:ext cx="7358998" cy="1374627"/>
            <a:chOff x="0" y="0"/>
            <a:chExt cx="9811998" cy="1832836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9811998" cy="1832836"/>
              <a:chOff x="0" y="0"/>
              <a:chExt cx="1341544" cy="250594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341544" cy="250594"/>
              </a:xfrm>
              <a:custGeom>
                <a:avLst/>
                <a:gdLst/>
                <a:ahLst/>
                <a:cxnLst/>
                <a:rect r="r" b="b" t="t" l="l"/>
                <a:pathLst>
                  <a:path h="250594" w="1341544">
                    <a:moveTo>
                      <a:pt x="53654" y="0"/>
                    </a:moveTo>
                    <a:lnTo>
                      <a:pt x="1287891" y="0"/>
                    </a:lnTo>
                    <a:cubicBezTo>
                      <a:pt x="1317523" y="0"/>
                      <a:pt x="1341544" y="24022"/>
                      <a:pt x="1341544" y="53654"/>
                    </a:cubicBezTo>
                    <a:lnTo>
                      <a:pt x="1341544" y="196941"/>
                    </a:lnTo>
                    <a:cubicBezTo>
                      <a:pt x="1341544" y="211170"/>
                      <a:pt x="1335892" y="224817"/>
                      <a:pt x="1325829" y="234879"/>
                    </a:cubicBezTo>
                    <a:cubicBezTo>
                      <a:pt x="1315767" y="244941"/>
                      <a:pt x="1302120" y="250594"/>
                      <a:pt x="1287891" y="250594"/>
                    </a:cubicBezTo>
                    <a:lnTo>
                      <a:pt x="53654" y="250594"/>
                    </a:lnTo>
                    <a:cubicBezTo>
                      <a:pt x="39424" y="250594"/>
                      <a:pt x="25777" y="244941"/>
                      <a:pt x="15715" y="234879"/>
                    </a:cubicBezTo>
                    <a:cubicBezTo>
                      <a:pt x="5653" y="224817"/>
                      <a:pt x="0" y="211170"/>
                      <a:pt x="0" y="196941"/>
                    </a:cubicBezTo>
                    <a:lnTo>
                      <a:pt x="0" y="53654"/>
                    </a:lnTo>
                    <a:cubicBezTo>
                      <a:pt x="0" y="39424"/>
                      <a:pt x="5653" y="25777"/>
                      <a:pt x="15715" y="15715"/>
                    </a:cubicBezTo>
                    <a:cubicBezTo>
                      <a:pt x="25777" y="5653"/>
                      <a:pt x="39424" y="0"/>
                      <a:pt x="53654" y="0"/>
                    </a:cubicBezTo>
                    <a:close/>
                  </a:path>
                </a:pathLst>
              </a:custGeom>
              <a:solidFill>
                <a:srgbClr val="5E17EB"/>
              </a:solidFill>
              <a:ln w="85725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1341544" cy="298219"/>
              </a:xfrm>
              <a:prstGeom prst="rect">
                <a:avLst/>
              </a:prstGeom>
            </p:spPr>
            <p:txBody>
              <a:bodyPr anchor="ctr" rtlCol="false" tIns="73392" lIns="73392" bIns="73392" rIns="73392"/>
              <a:lstStyle/>
              <a:p>
                <a:pPr algn="ctr" marL="0" indent="0" lvl="0">
                  <a:lnSpc>
                    <a:spcPts val="324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616371" y="466717"/>
              <a:ext cx="9195626" cy="802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Open Banking Credit Scoring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94325" y="9020745"/>
            <a:ext cx="8605634" cy="1296522"/>
            <a:chOff x="0" y="0"/>
            <a:chExt cx="11474179" cy="1728696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10907449" cy="1728696"/>
              <a:chOff x="0" y="0"/>
              <a:chExt cx="1491320" cy="236356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491320" cy="236356"/>
              </a:xfrm>
              <a:custGeom>
                <a:avLst/>
                <a:gdLst/>
                <a:ahLst/>
                <a:cxnLst/>
                <a:rect r="r" b="b" t="t" l="l"/>
                <a:pathLst>
                  <a:path h="236356" w="1491320">
                    <a:moveTo>
                      <a:pt x="48265" y="0"/>
                    </a:moveTo>
                    <a:lnTo>
                      <a:pt x="1443055" y="0"/>
                    </a:lnTo>
                    <a:cubicBezTo>
                      <a:pt x="1469711" y="0"/>
                      <a:pt x="1491320" y="21609"/>
                      <a:pt x="1491320" y="48265"/>
                    </a:cubicBezTo>
                    <a:lnTo>
                      <a:pt x="1491320" y="188091"/>
                    </a:lnTo>
                    <a:cubicBezTo>
                      <a:pt x="1491320" y="214747"/>
                      <a:pt x="1469711" y="236356"/>
                      <a:pt x="1443055" y="236356"/>
                    </a:cubicBezTo>
                    <a:lnTo>
                      <a:pt x="48265" y="236356"/>
                    </a:lnTo>
                    <a:cubicBezTo>
                      <a:pt x="21609" y="236356"/>
                      <a:pt x="0" y="214747"/>
                      <a:pt x="0" y="188091"/>
                    </a:cubicBezTo>
                    <a:lnTo>
                      <a:pt x="0" y="48265"/>
                    </a:lnTo>
                    <a:cubicBezTo>
                      <a:pt x="0" y="21609"/>
                      <a:pt x="21609" y="0"/>
                      <a:pt x="48265" y="0"/>
                    </a:cubicBezTo>
                    <a:close/>
                  </a:path>
                </a:pathLst>
              </a:custGeom>
              <a:solidFill>
                <a:srgbClr val="5E17EB"/>
              </a:solidFill>
              <a:ln w="85725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1491320" cy="283981"/>
              </a:xfrm>
              <a:prstGeom prst="rect">
                <a:avLst/>
              </a:prstGeom>
            </p:spPr>
            <p:txBody>
              <a:bodyPr anchor="ctr" rtlCol="false" tIns="73392" lIns="73392" bIns="73392" rIns="73392"/>
              <a:lstStyle/>
              <a:p>
                <a:pPr algn="ctr" marL="0" indent="0" lvl="0">
                  <a:lnSpc>
                    <a:spcPts val="324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616371" y="466717"/>
              <a:ext cx="10857807" cy="802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Institutional-grade Compliance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842427" y="9020745"/>
            <a:ext cx="8249056" cy="1303311"/>
            <a:chOff x="0" y="0"/>
            <a:chExt cx="10998741" cy="1737748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10212400" cy="1737748"/>
              <a:chOff x="0" y="0"/>
              <a:chExt cx="1396289" cy="237593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396289" cy="237593"/>
              </a:xfrm>
              <a:custGeom>
                <a:avLst/>
                <a:gdLst/>
                <a:ahLst/>
                <a:cxnLst/>
                <a:rect r="r" b="b" t="t" l="l"/>
                <a:pathLst>
                  <a:path h="237593" w="1396289">
                    <a:moveTo>
                      <a:pt x="51550" y="0"/>
                    </a:moveTo>
                    <a:lnTo>
                      <a:pt x="1344739" y="0"/>
                    </a:lnTo>
                    <a:cubicBezTo>
                      <a:pt x="1358411" y="0"/>
                      <a:pt x="1371523" y="5431"/>
                      <a:pt x="1381190" y="15099"/>
                    </a:cubicBezTo>
                    <a:cubicBezTo>
                      <a:pt x="1390858" y="24766"/>
                      <a:pt x="1396289" y="37878"/>
                      <a:pt x="1396289" y="51550"/>
                    </a:cubicBezTo>
                    <a:lnTo>
                      <a:pt x="1396289" y="186043"/>
                    </a:lnTo>
                    <a:cubicBezTo>
                      <a:pt x="1396289" y="199715"/>
                      <a:pt x="1390858" y="212827"/>
                      <a:pt x="1381190" y="222495"/>
                    </a:cubicBezTo>
                    <a:cubicBezTo>
                      <a:pt x="1371523" y="232162"/>
                      <a:pt x="1358411" y="237593"/>
                      <a:pt x="1344739" y="237593"/>
                    </a:cubicBezTo>
                    <a:lnTo>
                      <a:pt x="51550" y="237593"/>
                    </a:lnTo>
                    <a:cubicBezTo>
                      <a:pt x="37878" y="237593"/>
                      <a:pt x="24766" y="232162"/>
                      <a:pt x="15099" y="222495"/>
                    </a:cubicBezTo>
                    <a:cubicBezTo>
                      <a:pt x="5431" y="212827"/>
                      <a:pt x="0" y="199715"/>
                      <a:pt x="0" y="186043"/>
                    </a:cubicBezTo>
                    <a:lnTo>
                      <a:pt x="0" y="51550"/>
                    </a:lnTo>
                    <a:cubicBezTo>
                      <a:pt x="0" y="37878"/>
                      <a:pt x="5431" y="24766"/>
                      <a:pt x="15099" y="15099"/>
                    </a:cubicBezTo>
                    <a:cubicBezTo>
                      <a:pt x="24766" y="5431"/>
                      <a:pt x="37878" y="0"/>
                      <a:pt x="51550" y="0"/>
                    </a:cubicBezTo>
                    <a:close/>
                  </a:path>
                </a:pathLst>
              </a:custGeom>
              <a:solidFill>
                <a:srgbClr val="5E17EB"/>
              </a:solidFill>
              <a:ln w="85725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47625"/>
                <a:ext cx="1396289" cy="285218"/>
              </a:xfrm>
              <a:prstGeom prst="rect">
                <a:avLst/>
              </a:prstGeom>
            </p:spPr>
            <p:txBody>
              <a:bodyPr anchor="ctr" rtlCol="false" tIns="73392" lIns="73392" bIns="73392" rIns="73392"/>
              <a:lstStyle/>
              <a:p>
                <a:pPr algn="ctr" marL="0" indent="0" lvl="0">
                  <a:lnSpc>
                    <a:spcPts val="324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616371" y="466717"/>
              <a:ext cx="10382370" cy="802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On-chain Reputation Building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102763" y="6105238"/>
            <a:ext cx="8394393" cy="1298264"/>
            <a:chOff x="0" y="0"/>
            <a:chExt cx="11192524" cy="1731019"/>
          </a:xfrm>
        </p:grpSpPr>
        <p:grpSp>
          <p:nvGrpSpPr>
            <p:cNvPr name="Group 67" id="67"/>
            <p:cNvGrpSpPr/>
            <p:nvPr/>
          </p:nvGrpSpPr>
          <p:grpSpPr>
            <a:xfrm rot="0">
              <a:off x="0" y="0"/>
              <a:ext cx="11192524" cy="1731019"/>
              <a:chOff x="0" y="0"/>
              <a:chExt cx="1530297" cy="236673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1530297" cy="236673"/>
              </a:xfrm>
              <a:custGeom>
                <a:avLst/>
                <a:gdLst/>
                <a:ahLst/>
                <a:cxnLst/>
                <a:rect r="r" b="b" t="t" l="l"/>
                <a:pathLst>
                  <a:path h="236673" w="1530297">
                    <a:moveTo>
                      <a:pt x="47036" y="0"/>
                    </a:moveTo>
                    <a:lnTo>
                      <a:pt x="1483261" y="0"/>
                    </a:lnTo>
                    <a:cubicBezTo>
                      <a:pt x="1509238" y="0"/>
                      <a:pt x="1530297" y="21059"/>
                      <a:pt x="1530297" y="47036"/>
                    </a:cubicBezTo>
                    <a:lnTo>
                      <a:pt x="1530297" y="189637"/>
                    </a:lnTo>
                    <a:cubicBezTo>
                      <a:pt x="1530297" y="202112"/>
                      <a:pt x="1525341" y="214076"/>
                      <a:pt x="1516520" y="222897"/>
                    </a:cubicBezTo>
                    <a:cubicBezTo>
                      <a:pt x="1507699" y="231718"/>
                      <a:pt x="1495735" y="236673"/>
                      <a:pt x="1483261" y="236673"/>
                    </a:cubicBezTo>
                    <a:lnTo>
                      <a:pt x="47036" y="236673"/>
                    </a:lnTo>
                    <a:cubicBezTo>
                      <a:pt x="21059" y="236673"/>
                      <a:pt x="0" y="215615"/>
                      <a:pt x="0" y="189637"/>
                    </a:cubicBezTo>
                    <a:lnTo>
                      <a:pt x="0" y="47036"/>
                    </a:lnTo>
                    <a:cubicBezTo>
                      <a:pt x="0" y="34561"/>
                      <a:pt x="4956" y="22597"/>
                      <a:pt x="13776" y="13776"/>
                    </a:cubicBezTo>
                    <a:cubicBezTo>
                      <a:pt x="22597" y="4956"/>
                      <a:pt x="34561" y="0"/>
                      <a:pt x="47036" y="0"/>
                    </a:cubicBezTo>
                    <a:close/>
                  </a:path>
                </a:pathLst>
              </a:custGeom>
              <a:solidFill>
                <a:srgbClr val="5E17EB"/>
              </a:solidFill>
              <a:ln w="85725" cap="rnd">
                <a:solidFill>
                  <a:srgbClr val="5E17EB"/>
                </a:solidFill>
                <a:prstDash val="solid"/>
                <a:round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47625"/>
                <a:ext cx="1530297" cy="284298"/>
              </a:xfrm>
              <a:prstGeom prst="rect">
                <a:avLst/>
              </a:prstGeom>
            </p:spPr>
            <p:txBody>
              <a:bodyPr anchor="ctr" rtlCol="false" tIns="73392" lIns="73392" bIns="73392" rIns="73392"/>
              <a:lstStyle/>
              <a:p>
                <a:pPr algn="ctr" marL="0" indent="0" lvl="0">
                  <a:lnSpc>
                    <a:spcPts val="324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616371" y="466717"/>
              <a:ext cx="10122889" cy="802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Mobile-first Access via Telegram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28123" y="7096845"/>
            <a:ext cx="9961832" cy="3937229"/>
            <a:chOff x="0" y="0"/>
            <a:chExt cx="1816040" cy="71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6040" cy="717756"/>
            </a:xfrm>
            <a:custGeom>
              <a:avLst/>
              <a:gdLst/>
              <a:ahLst/>
              <a:cxnLst/>
              <a:rect r="r" b="b" t="t" l="l"/>
              <a:pathLst>
                <a:path h="717756" w="1816040">
                  <a:moveTo>
                    <a:pt x="39635" y="0"/>
                  </a:moveTo>
                  <a:lnTo>
                    <a:pt x="1776405" y="0"/>
                  </a:lnTo>
                  <a:cubicBezTo>
                    <a:pt x="1798295" y="0"/>
                    <a:pt x="1816040" y="17745"/>
                    <a:pt x="1816040" y="39635"/>
                  </a:cubicBezTo>
                  <a:lnTo>
                    <a:pt x="1816040" y="678121"/>
                  </a:lnTo>
                  <a:cubicBezTo>
                    <a:pt x="1816040" y="688633"/>
                    <a:pt x="1811864" y="698714"/>
                    <a:pt x="1804432" y="706147"/>
                  </a:cubicBezTo>
                  <a:cubicBezTo>
                    <a:pt x="1796998" y="713580"/>
                    <a:pt x="1786917" y="717756"/>
                    <a:pt x="1776405" y="717756"/>
                  </a:cubicBezTo>
                  <a:lnTo>
                    <a:pt x="39635" y="717756"/>
                  </a:lnTo>
                  <a:cubicBezTo>
                    <a:pt x="17745" y="717756"/>
                    <a:pt x="0" y="700011"/>
                    <a:pt x="0" y="678121"/>
                  </a:cubicBezTo>
                  <a:lnTo>
                    <a:pt x="0" y="39635"/>
                  </a:lnTo>
                  <a:cubicBezTo>
                    <a:pt x="0" y="17745"/>
                    <a:pt x="17745" y="0"/>
                    <a:pt x="39635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6040" cy="765381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81790" y="-1796941"/>
            <a:ext cx="22253230" cy="12398992"/>
            <a:chOff x="0" y="0"/>
            <a:chExt cx="29670974" cy="1653198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5962800" y="406400"/>
              <a:ext cx="3009189" cy="3855061"/>
              <a:chOff x="0" y="0"/>
              <a:chExt cx="604157" cy="77398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04157" cy="773983"/>
              </a:xfrm>
              <a:custGeom>
                <a:avLst/>
                <a:gdLst/>
                <a:ahLst/>
                <a:cxnLst/>
                <a:rect r="r" b="b" t="t" l="l"/>
                <a:pathLst>
                  <a:path h="773983" w="604157">
                    <a:moveTo>
                      <a:pt x="192386" y="0"/>
                    </a:moveTo>
                    <a:lnTo>
                      <a:pt x="411770" y="0"/>
                    </a:lnTo>
                    <a:cubicBezTo>
                      <a:pt x="462794" y="0"/>
                      <a:pt x="511729" y="20269"/>
                      <a:pt x="547808" y="56349"/>
                    </a:cubicBezTo>
                    <a:cubicBezTo>
                      <a:pt x="583887" y="92428"/>
                      <a:pt x="604157" y="141362"/>
                      <a:pt x="604157" y="192386"/>
                    </a:cubicBezTo>
                    <a:lnTo>
                      <a:pt x="604157" y="581596"/>
                    </a:lnTo>
                    <a:cubicBezTo>
                      <a:pt x="604157" y="632620"/>
                      <a:pt x="583887" y="681555"/>
                      <a:pt x="547808" y="717634"/>
                    </a:cubicBezTo>
                    <a:cubicBezTo>
                      <a:pt x="511729" y="753714"/>
                      <a:pt x="462794" y="773983"/>
                      <a:pt x="411770" y="773983"/>
                    </a:cubicBezTo>
                    <a:lnTo>
                      <a:pt x="192386" y="773983"/>
                    </a:lnTo>
                    <a:cubicBezTo>
                      <a:pt x="86134" y="773983"/>
                      <a:pt x="0" y="687848"/>
                      <a:pt x="0" y="581596"/>
                    </a:cubicBezTo>
                    <a:lnTo>
                      <a:pt x="0" y="192386"/>
                    </a:lnTo>
                    <a:cubicBezTo>
                      <a:pt x="0" y="141362"/>
                      <a:pt x="20269" y="92428"/>
                      <a:pt x="56349" y="56349"/>
                    </a:cubicBezTo>
                    <a:cubicBezTo>
                      <a:pt x="92428" y="20269"/>
                      <a:pt x="141362" y="0"/>
                      <a:pt x="192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604157" cy="831133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5762152" cy="4403409"/>
              <a:chOff x="0" y="0"/>
              <a:chExt cx="5172281" cy="8840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172281" cy="884075"/>
              </a:xfrm>
              <a:custGeom>
                <a:avLst/>
                <a:gdLst/>
                <a:ahLst/>
                <a:cxnLst/>
                <a:rect r="r" b="b" t="t" l="l"/>
                <a:pathLst>
                  <a:path h="884075" w="5172281">
                    <a:moveTo>
                      <a:pt x="22472" y="0"/>
                    </a:moveTo>
                    <a:lnTo>
                      <a:pt x="5149809" y="0"/>
                    </a:lnTo>
                    <a:cubicBezTo>
                      <a:pt x="5155769" y="0"/>
                      <a:pt x="5161485" y="2368"/>
                      <a:pt x="5165699" y="6582"/>
                    </a:cubicBezTo>
                    <a:cubicBezTo>
                      <a:pt x="5169914" y="10796"/>
                      <a:pt x="5172281" y="16512"/>
                      <a:pt x="5172281" y="22472"/>
                    </a:cubicBezTo>
                    <a:lnTo>
                      <a:pt x="5172281" y="861603"/>
                    </a:lnTo>
                    <a:cubicBezTo>
                      <a:pt x="5172281" y="867563"/>
                      <a:pt x="5169914" y="873279"/>
                      <a:pt x="5165699" y="877493"/>
                    </a:cubicBezTo>
                    <a:cubicBezTo>
                      <a:pt x="5161485" y="881707"/>
                      <a:pt x="5155769" y="884075"/>
                      <a:pt x="5149809" y="884075"/>
                    </a:cubicBezTo>
                    <a:lnTo>
                      <a:pt x="22472" y="884075"/>
                    </a:lnTo>
                    <a:cubicBezTo>
                      <a:pt x="16512" y="884075"/>
                      <a:pt x="10796" y="881707"/>
                      <a:pt x="6582" y="877493"/>
                    </a:cubicBezTo>
                    <a:cubicBezTo>
                      <a:pt x="2368" y="873279"/>
                      <a:pt x="0" y="867563"/>
                      <a:pt x="0" y="861603"/>
                    </a:cubicBezTo>
                    <a:lnTo>
                      <a:pt x="0" y="22472"/>
                    </a:lnTo>
                    <a:cubicBezTo>
                      <a:pt x="0" y="16512"/>
                      <a:pt x="2368" y="10796"/>
                      <a:pt x="6582" y="6582"/>
                    </a:cubicBezTo>
                    <a:cubicBezTo>
                      <a:pt x="10796" y="2368"/>
                      <a:pt x="16512" y="0"/>
                      <a:pt x="224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5172281" cy="941225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6437177" y="2573033"/>
              <a:ext cx="1372669" cy="137266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18060" lIns="18060" bIns="18060" rIns="18060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751111" y="2861264"/>
              <a:ext cx="240567" cy="764279"/>
              <a:chOff x="0" y="0"/>
              <a:chExt cx="216146" cy="68669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6146" cy="686692"/>
              </a:xfrm>
              <a:custGeom>
                <a:avLst/>
                <a:gdLst/>
                <a:ahLst/>
                <a:cxnLst/>
                <a:rect r="r" b="b" t="t" l="l"/>
                <a:pathLst>
                  <a:path h="686692" w="216146">
                    <a:moveTo>
                      <a:pt x="108073" y="0"/>
                    </a:moveTo>
                    <a:lnTo>
                      <a:pt x="108073" y="0"/>
                    </a:lnTo>
                    <a:cubicBezTo>
                      <a:pt x="167760" y="0"/>
                      <a:pt x="216146" y="48386"/>
                      <a:pt x="216146" y="108073"/>
                    </a:cubicBezTo>
                    <a:lnTo>
                      <a:pt x="216146" y="578619"/>
                    </a:lnTo>
                    <a:cubicBezTo>
                      <a:pt x="216146" y="638306"/>
                      <a:pt x="167760" y="686692"/>
                      <a:pt x="108073" y="686692"/>
                    </a:cubicBezTo>
                    <a:lnTo>
                      <a:pt x="108073" y="686692"/>
                    </a:lnTo>
                    <a:cubicBezTo>
                      <a:pt x="48386" y="686692"/>
                      <a:pt x="0" y="638306"/>
                      <a:pt x="0" y="578619"/>
                    </a:cubicBezTo>
                    <a:lnTo>
                      <a:pt x="0" y="108073"/>
                    </a:lnTo>
                    <a:cubicBezTo>
                      <a:pt x="0" y="48386"/>
                      <a:pt x="48386" y="0"/>
                      <a:pt x="10807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216146" cy="705742"/>
              </a:xfrm>
              <a:prstGeom prst="rect">
                <a:avLst/>
              </a:prstGeom>
            </p:spPr>
            <p:txBody>
              <a:bodyPr anchor="ctr" rtlCol="false" tIns="21423" lIns="21423" bIns="21423" rIns="21423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-4439686">
              <a:off x="26842433" y="2837228"/>
              <a:ext cx="234207" cy="217369"/>
              <a:chOff x="0" y="0"/>
              <a:chExt cx="796609" cy="73933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96609" cy="739338"/>
              </a:xfrm>
              <a:custGeom>
                <a:avLst/>
                <a:gdLst/>
                <a:ahLst/>
                <a:cxnLst/>
                <a:rect r="r" b="b" t="t" l="l"/>
                <a:pathLst>
                  <a:path h="739338" w="796609">
                    <a:moveTo>
                      <a:pt x="593409" y="0"/>
                    </a:moveTo>
                    <a:lnTo>
                      <a:pt x="0" y="0"/>
                    </a:lnTo>
                    <a:lnTo>
                      <a:pt x="203200" y="739338"/>
                    </a:lnTo>
                    <a:lnTo>
                      <a:pt x="796609" y="739338"/>
                    </a:lnTo>
                    <a:lnTo>
                      <a:pt x="59340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19050"/>
                <a:ext cx="593409" cy="758388"/>
              </a:xfrm>
              <a:prstGeom prst="rect">
                <a:avLst/>
              </a:prstGeom>
            </p:spPr>
            <p:txBody>
              <a:bodyPr anchor="ctr" rtlCol="false" tIns="21423" lIns="21423" bIns="21423" rIns="21423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5810705">
              <a:off x="27120290" y="2879001"/>
              <a:ext cx="454483" cy="445552"/>
              <a:chOff x="0" y="0"/>
              <a:chExt cx="567564" cy="55641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67564" cy="556410"/>
              </a:xfrm>
              <a:custGeom>
                <a:avLst/>
                <a:gdLst/>
                <a:ahLst/>
                <a:cxnLst/>
                <a:rect r="r" b="b" t="t" l="l"/>
                <a:pathLst>
                  <a:path h="556410" w="567564">
                    <a:moveTo>
                      <a:pt x="0" y="556410"/>
                    </a:moveTo>
                    <a:cubicBezTo>
                      <a:pt x="0" y="409873"/>
                      <a:pt x="60541" y="266586"/>
                      <a:pt x="166236" y="162969"/>
                    </a:cubicBezTo>
                    <a:cubicBezTo>
                      <a:pt x="271930" y="59351"/>
                      <a:pt x="418089" y="0"/>
                      <a:pt x="567564" y="0"/>
                    </a:cubicBezTo>
                    <a:lnTo>
                      <a:pt x="567564" y="283861"/>
                    </a:lnTo>
                    <a:cubicBezTo>
                      <a:pt x="494345" y="283861"/>
                      <a:pt x="422752" y="312934"/>
                      <a:pt x="370979" y="363688"/>
                    </a:cubicBezTo>
                    <a:cubicBezTo>
                      <a:pt x="319207" y="414444"/>
                      <a:pt x="289552" y="484630"/>
                      <a:pt x="289552" y="556410"/>
                    </a:cubicBezTo>
                    <a:lnTo>
                      <a:pt x="0" y="5564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8992" y="107407"/>
                <a:ext cx="309580" cy="322546"/>
              </a:xfrm>
              <a:prstGeom prst="rect">
                <a:avLst/>
              </a:prstGeom>
            </p:spPr>
            <p:txBody>
              <a:bodyPr anchor="ctr" rtlCol="false" tIns="20198" lIns="20198" bIns="20198" rIns="20198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10800000">
              <a:off x="27314625" y="3148974"/>
              <a:ext cx="228498" cy="476568"/>
              <a:chOff x="0" y="0"/>
              <a:chExt cx="217756" cy="45416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7756" cy="454165"/>
              </a:xfrm>
              <a:custGeom>
                <a:avLst/>
                <a:gdLst/>
                <a:ahLst/>
                <a:cxnLst/>
                <a:rect r="r" b="b" t="t" l="l"/>
                <a:pathLst>
                  <a:path h="454165" w="217756">
                    <a:moveTo>
                      <a:pt x="108878" y="0"/>
                    </a:moveTo>
                    <a:lnTo>
                      <a:pt x="108878" y="0"/>
                    </a:lnTo>
                    <a:cubicBezTo>
                      <a:pt x="169010" y="0"/>
                      <a:pt x="217756" y="48746"/>
                      <a:pt x="217756" y="108878"/>
                    </a:cubicBezTo>
                    <a:lnTo>
                      <a:pt x="217756" y="345287"/>
                    </a:lnTo>
                    <a:cubicBezTo>
                      <a:pt x="217756" y="405419"/>
                      <a:pt x="169010" y="454165"/>
                      <a:pt x="108878" y="454165"/>
                    </a:cubicBezTo>
                    <a:lnTo>
                      <a:pt x="108878" y="454165"/>
                    </a:lnTo>
                    <a:cubicBezTo>
                      <a:pt x="80002" y="454165"/>
                      <a:pt x="52308" y="442694"/>
                      <a:pt x="31890" y="422276"/>
                    </a:cubicBezTo>
                    <a:cubicBezTo>
                      <a:pt x="11471" y="401857"/>
                      <a:pt x="0" y="374164"/>
                      <a:pt x="0" y="345287"/>
                    </a:cubicBezTo>
                    <a:lnTo>
                      <a:pt x="0" y="108878"/>
                    </a:lnTo>
                    <a:cubicBezTo>
                      <a:pt x="0" y="80002"/>
                      <a:pt x="11471" y="52308"/>
                      <a:pt x="31890" y="31890"/>
                    </a:cubicBezTo>
                    <a:cubicBezTo>
                      <a:pt x="52308" y="11471"/>
                      <a:pt x="80002" y="0"/>
                      <a:pt x="10887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217756" cy="473215"/>
              </a:xfrm>
              <a:prstGeom prst="rect">
                <a:avLst/>
              </a:prstGeom>
            </p:spPr>
            <p:txBody>
              <a:bodyPr anchor="ctr" rtlCol="false" tIns="20198" lIns="20198" bIns="20198" rIns="20198"/>
              <a:lstStyle/>
              <a:p>
                <a:pPr algn="ctr">
                  <a:lnSpc>
                    <a:spcPts val="126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910802" y="2732301"/>
              <a:ext cx="17147396" cy="1323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sz="5999" b="true">
                  <a:solidFill>
                    <a:srgbClr val="000000"/>
                  </a:solidFill>
                  <a:latin typeface="Nunito Heavy"/>
                  <a:ea typeface="Nunito Heavy"/>
                  <a:cs typeface="Nunito Heavy"/>
                  <a:sym typeface="Nunito Heavy"/>
                </a:rPr>
                <a:t>Why We Win 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26941052" y="14740321"/>
              <a:ext cx="2729922" cy="1791668"/>
              <a:chOff x="0" y="0"/>
              <a:chExt cx="548088" cy="35971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48088" cy="359714"/>
              </a:xfrm>
              <a:custGeom>
                <a:avLst/>
                <a:gdLst/>
                <a:ahLst/>
                <a:cxnLst/>
                <a:rect r="r" b="b" t="t" l="l"/>
                <a:pathLst>
                  <a:path h="359714" w="548088">
                    <a:moveTo>
                      <a:pt x="179857" y="0"/>
                    </a:moveTo>
                    <a:lnTo>
                      <a:pt x="368231" y="0"/>
                    </a:lnTo>
                    <a:cubicBezTo>
                      <a:pt x="415932" y="0"/>
                      <a:pt x="461679" y="18949"/>
                      <a:pt x="495409" y="52679"/>
                    </a:cubicBezTo>
                    <a:cubicBezTo>
                      <a:pt x="529139" y="86409"/>
                      <a:pt x="548088" y="132156"/>
                      <a:pt x="548088" y="179857"/>
                    </a:cubicBezTo>
                    <a:lnTo>
                      <a:pt x="548088" y="179857"/>
                    </a:lnTo>
                    <a:cubicBezTo>
                      <a:pt x="548088" y="227558"/>
                      <a:pt x="529139" y="273306"/>
                      <a:pt x="495409" y="307035"/>
                    </a:cubicBezTo>
                    <a:cubicBezTo>
                      <a:pt x="461679" y="340765"/>
                      <a:pt x="415932" y="359714"/>
                      <a:pt x="368231" y="359714"/>
                    </a:cubicBezTo>
                    <a:lnTo>
                      <a:pt x="179857" y="359714"/>
                    </a:lnTo>
                    <a:cubicBezTo>
                      <a:pt x="132156" y="359714"/>
                      <a:pt x="86409" y="340765"/>
                      <a:pt x="52679" y="307035"/>
                    </a:cubicBezTo>
                    <a:cubicBezTo>
                      <a:pt x="18949" y="273306"/>
                      <a:pt x="0" y="227558"/>
                      <a:pt x="0" y="179857"/>
                    </a:cubicBezTo>
                    <a:lnTo>
                      <a:pt x="0" y="179857"/>
                    </a:lnTo>
                    <a:cubicBezTo>
                      <a:pt x="0" y="132156"/>
                      <a:pt x="18949" y="86409"/>
                      <a:pt x="52679" y="52679"/>
                    </a:cubicBezTo>
                    <a:cubicBezTo>
                      <a:pt x="86409" y="18949"/>
                      <a:pt x="132156" y="0"/>
                      <a:pt x="1798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548088" cy="416864"/>
              </a:xfrm>
              <a:prstGeom prst="rect">
                <a:avLst/>
              </a:prstGeom>
            </p:spPr>
            <p:txBody>
              <a:bodyPr anchor="ctr" rtlCol="false" tIns="45450" lIns="45450" bIns="45450" rIns="45450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7348723" y="15318589"/>
              <a:ext cx="348975" cy="6542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-1673424" y="7108937"/>
            <a:ext cx="10886597" cy="3925137"/>
            <a:chOff x="0" y="0"/>
            <a:chExt cx="1984625" cy="7155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84625" cy="715552"/>
            </a:xfrm>
            <a:custGeom>
              <a:avLst/>
              <a:gdLst/>
              <a:ahLst/>
              <a:cxnLst/>
              <a:rect r="r" b="b" t="t" l="l"/>
              <a:pathLst>
                <a:path h="715552" w="1984625">
                  <a:moveTo>
                    <a:pt x="36268" y="0"/>
                  </a:moveTo>
                  <a:lnTo>
                    <a:pt x="1948356" y="0"/>
                  </a:lnTo>
                  <a:cubicBezTo>
                    <a:pt x="1968387" y="0"/>
                    <a:pt x="1984625" y="16238"/>
                    <a:pt x="1984625" y="36268"/>
                  </a:cubicBezTo>
                  <a:lnTo>
                    <a:pt x="1984625" y="679284"/>
                  </a:lnTo>
                  <a:cubicBezTo>
                    <a:pt x="1984625" y="699314"/>
                    <a:pt x="1968387" y="715552"/>
                    <a:pt x="1948356" y="715552"/>
                  </a:cubicBezTo>
                  <a:lnTo>
                    <a:pt x="36268" y="715552"/>
                  </a:lnTo>
                  <a:cubicBezTo>
                    <a:pt x="16238" y="715552"/>
                    <a:pt x="0" y="699314"/>
                    <a:pt x="0" y="679284"/>
                  </a:cubicBezTo>
                  <a:lnTo>
                    <a:pt x="0" y="36268"/>
                  </a:lnTo>
                  <a:cubicBezTo>
                    <a:pt x="0" y="16238"/>
                    <a:pt x="16238" y="0"/>
                    <a:pt x="3626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984625" cy="763177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974249" y="2409797"/>
            <a:ext cx="10187422" cy="4197920"/>
            <a:chOff x="0" y="0"/>
            <a:chExt cx="1857165" cy="765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57165" cy="765280"/>
            </a:xfrm>
            <a:custGeom>
              <a:avLst/>
              <a:gdLst/>
              <a:ahLst/>
              <a:cxnLst/>
              <a:rect r="r" b="b" t="t" l="l"/>
              <a:pathLst>
                <a:path h="765280" w="1857165">
                  <a:moveTo>
                    <a:pt x="38757" y="0"/>
                  </a:moveTo>
                  <a:lnTo>
                    <a:pt x="1818408" y="0"/>
                  </a:lnTo>
                  <a:cubicBezTo>
                    <a:pt x="1839813" y="0"/>
                    <a:pt x="1857165" y="17352"/>
                    <a:pt x="1857165" y="38757"/>
                  </a:cubicBezTo>
                  <a:lnTo>
                    <a:pt x="1857165" y="726523"/>
                  </a:lnTo>
                  <a:cubicBezTo>
                    <a:pt x="1857165" y="747928"/>
                    <a:pt x="1839813" y="765280"/>
                    <a:pt x="1818408" y="765280"/>
                  </a:cubicBezTo>
                  <a:lnTo>
                    <a:pt x="38757" y="765280"/>
                  </a:lnTo>
                  <a:cubicBezTo>
                    <a:pt x="17352" y="765280"/>
                    <a:pt x="0" y="747928"/>
                    <a:pt x="0" y="726523"/>
                  </a:cubicBezTo>
                  <a:lnTo>
                    <a:pt x="0" y="38757"/>
                  </a:lnTo>
                  <a:cubicBezTo>
                    <a:pt x="0" y="17352"/>
                    <a:pt x="17352" y="0"/>
                    <a:pt x="3875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857165" cy="812905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13880" y="2409797"/>
            <a:ext cx="9305434" cy="4197920"/>
            <a:chOff x="0" y="0"/>
            <a:chExt cx="1696379" cy="765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96379" cy="765280"/>
            </a:xfrm>
            <a:custGeom>
              <a:avLst/>
              <a:gdLst/>
              <a:ahLst/>
              <a:cxnLst/>
              <a:rect r="r" b="b" t="t" l="l"/>
              <a:pathLst>
                <a:path h="765280" w="1696379">
                  <a:moveTo>
                    <a:pt x="42431" y="0"/>
                  </a:moveTo>
                  <a:lnTo>
                    <a:pt x="1653948" y="0"/>
                  </a:lnTo>
                  <a:cubicBezTo>
                    <a:pt x="1677382" y="0"/>
                    <a:pt x="1696379" y="18997"/>
                    <a:pt x="1696379" y="42431"/>
                  </a:cubicBezTo>
                  <a:lnTo>
                    <a:pt x="1696379" y="722849"/>
                  </a:lnTo>
                  <a:cubicBezTo>
                    <a:pt x="1696379" y="746283"/>
                    <a:pt x="1677382" y="765280"/>
                    <a:pt x="1653948" y="765280"/>
                  </a:cubicBezTo>
                  <a:lnTo>
                    <a:pt x="42431" y="765280"/>
                  </a:lnTo>
                  <a:cubicBezTo>
                    <a:pt x="18997" y="765280"/>
                    <a:pt x="0" y="746283"/>
                    <a:pt x="0" y="722849"/>
                  </a:cubicBezTo>
                  <a:lnTo>
                    <a:pt x="0" y="42431"/>
                  </a:lnTo>
                  <a:cubicBezTo>
                    <a:pt x="0" y="18997"/>
                    <a:pt x="18997" y="0"/>
                    <a:pt x="42431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696379" cy="812905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-974249" y="1969335"/>
            <a:ext cx="9845947" cy="896226"/>
            <a:chOff x="0" y="0"/>
            <a:chExt cx="1794915" cy="16338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94914" cy="163382"/>
            </a:xfrm>
            <a:custGeom>
              <a:avLst/>
              <a:gdLst/>
              <a:ahLst/>
              <a:cxnLst/>
              <a:rect r="r" b="b" t="t" l="l"/>
              <a:pathLst>
                <a:path h="163382" w="1794914">
                  <a:moveTo>
                    <a:pt x="40102" y="0"/>
                  </a:moveTo>
                  <a:lnTo>
                    <a:pt x="1754813" y="0"/>
                  </a:lnTo>
                  <a:cubicBezTo>
                    <a:pt x="1776960" y="0"/>
                    <a:pt x="1794914" y="17954"/>
                    <a:pt x="1794914" y="40102"/>
                  </a:cubicBezTo>
                  <a:lnTo>
                    <a:pt x="1794914" y="123280"/>
                  </a:lnTo>
                  <a:cubicBezTo>
                    <a:pt x="1794914" y="145428"/>
                    <a:pt x="1776960" y="163382"/>
                    <a:pt x="1754813" y="163382"/>
                  </a:cubicBezTo>
                  <a:lnTo>
                    <a:pt x="40102" y="163382"/>
                  </a:lnTo>
                  <a:cubicBezTo>
                    <a:pt x="17954" y="163382"/>
                    <a:pt x="0" y="145428"/>
                    <a:pt x="0" y="123280"/>
                  </a:cubicBezTo>
                  <a:lnTo>
                    <a:pt x="0" y="40102"/>
                  </a:lnTo>
                  <a:cubicBezTo>
                    <a:pt x="0" y="17954"/>
                    <a:pt x="17954" y="0"/>
                    <a:pt x="4010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794915" cy="211007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28700" y="507108"/>
            <a:ext cx="11623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0666" y="2032612"/>
            <a:ext cx="992278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true">
                <a:solidFill>
                  <a:srgbClr val="F6F6F6"/>
                </a:solidFill>
                <a:latin typeface="Poppins Bold"/>
                <a:ea typeface="Poppins Bold"/>
                <a:cs typeface="Poppins Bold"/>
                <a:sym typeface="Poppins Bold"/>
              </a:rPr>
              <a:t>Stablecoin Eliminates Volatility Risk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0631503" y="1983930"/>
            <a:ext cx="8638882" cy="851734"/>
            <a:chOff x="0" y="0"/>
            <a:chExt cx="1574867" cy="1552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74867" cy="155271"/>
            </a:xfrm>
            <a:custGeom>
              <a:avLst/>
              <a:gdLst/>
              <a:ahLst/>
              <a:cxnLst/>
              <a:rect r="r" b="b" t="t" l="l"/>
              <a:pathLst>
                <a:path h="155271" w="1574867">
                  <a:moveTo>
                    <a:pt x="45705" y="0"/>
                  </a:moveTo>
                  <a:lnTo>
                    <a:pt x="1529162" y="0"/>
                  </a:lnTo>
                  <a:cubicBezTo>
                    <a:pt x="1541284" y="0"/>
                    <a:pt x="1552909" y="4815"/>
                    <a:pt x="1561480" y="13387"/>
                  </a:cubicBezTo>
                  <a:cubicBezTo>
                    <a:pt x="1570051" y="21958"/>
                    <a:pt x="1574867" y="33583"/>
                    <a:pt x="1574867" y="45705"/>
                  </a:cubicBezTo>
                  <a:lnTo>
                    <a:pt x="1574867" y="109566"/>
                  </a:lnTo>
                  <a:cubicBezTo>
                    <a:pt x="1574867" y="121688"/>
                    <a:pt x="1570051" y="133313"/>
                    <a:pt x="1561480" y="141884"/>
                  </a:cubicBezTo>
                  <a:cubicBezTo>
                    <a:pt x="1552909" y="150456"/>
                    <a:pt x="1541284" y="155271"/>
                    <a:pt x="1529162" y="155271"/>
                  </a:cubicBezTo>
                  <a:lnTo>
                    <a:pt x="45705" y="155271"/>
                  </a:lnTo>
                  <a:cubicBezTo>
                    <a:pt x="33583" y="155271"/>
                    <a:pt x="21958" y="150456"/>
                    <a:pt x="13387" y="141884"/>
                  </a:cubicBezTo>
                  <a:cubicBezTo>
                    <a:pt x="4815" y="133313"/>
                    <a:pt x="0" y="121688"/>
                    <a:pt x="0" y="109566"/>
                  </a:cubicBezTo>
                  <a:lnTo>
                    <a:pt x="0" y="45705"/>
                  </a:lnTo>
                  <a:cubicBezTo>
                    <a:pt x="0" y="33583"/>
                    <a:pt x="4815" y="21958"/>
                    <a:pt x="13387" y="13387"/>
                  </a:cubicBezTo>
                  <a:cubicBezTo>
                    <a:pt x="21958" y="4815"/>
                    <a:pt x="33583" y="0"/>
                    <a:pt x="45705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574867" cy="202896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476051" y="2039910"/>
            <a:ext cx="650194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F6F6F6"/>
                </a:solidFill>
                <a:latin typeface="Poppins Bold"/>
                <a:ea typeface="Poppins Bold"/>
                <a:cs typeface="Poppins Bold"/>
                <a:sym typeface="Poppins Bold"/>
              </a:rPr>
              <a:t>Behavioral Data Advantage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661149" y="6713056"/>
            <a:ext cx="9329921" cy="844337"/>
            <a:chOff x="0" y="0"/>
            <a:chExt cx="1700843" cy="1539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0843" cy="153922"/>
            </a:xfrm>
            <a:custGeom>
              <a:avLst/>
              <a:gdLst/>
              <a:ahLst/>
              <a:cxnLst/>
              <a:rect r="r" b="b" t="t" l="l"/>
              <a:pathLst>
                <a:path h="153922" w="1700843">
                  <a:moveTo>
                    <a:pt x="42320" y="0"/>
                  </a:moveTo>
                  <a:lnTo>
                    <a:pt x="1658524" y="0"/>
                  </a:lnTo>
                  <a:cubicBezTo>
                    <a:pt x="1669747" y="0"/>
                    <a:pt x="1680512" y="4459"/>
                    <a:pt x="1688448" y="12395"/>
                  </a:cubicBezTo>
                  <a:cubicBezTo>
                    <a:pt x="1696384" y="20332"/>
                    <a:pt x="1700843" y="31096"/>
                    <a:pt x="1700843" y="42320"/>
                  </a:cubicBezTo>
                  <a:lnTo>
                    <a:pt x="1700843" y="111603"/>
                  </a:lnTo>
                  <a:cubicBezTo>
                    <a:pt x="1700843" y="134975"/>
                    <a:pt x="1681896" y="153922"/>
                    <a:pt x="1658524" y="153922"/>
                  </a:cubicBezTo>
                  <a:lnTo>
                    <a:pt x="42320" y="153922"/>
                  </a:lnTo>
                  <a:cubicBezTo>
                    <a:pt x="31096" y="153922"/>
                    <a:pt x="20332" y="149464"/>
                    <a:pt x="12395" y="141527"/>
                  </a:cubicBezTo>
                  <a:cubicBezTo>
                    <a:pt x="4459" y="133591"/>
                    <a:pt x="0" y="122827"/>
                    <a:pt x="0" y="111603"/>
                  </a:cubicBezTo>
                  <a:lnTo>
                    <a:pt x="0" y="42320"/>
                  </a:lnTo>
                  <a:cubicBezTo>
                    <a:pt x="0" y="31096"/>
                    <a:pt x="4459" y="20332"/>
                    <a:pt x="12395" y="12395"/>
                  </a:cubicBezTo>
                  <a:cubicBezTo>
                    <a:pt x="20332" y="4459"/>
                    <a:pt x="31096" y="0"/>
                    <a:pt x="42320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700843" cy="201548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293476" y="6754341"/>
            <a:ext cx="6867091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F6F6F6"/>
                </a:solidFill>
                <a:latin typeface="Poppins Bold"/>
                <a:ea typeface="Poppins Bold"/>
                <a:cs typeface="Poppins Bold"/>
                <a:sym typeface="Poppins Bold"/>
              </a:rPr>
              <a:t>Capital Efficiency via Pooling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12569" y="3136644"/>
            <a:ext cx="8700604" cy="272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FTCoin pegged 1:1 to ZAR</a:t>
            </a:r>
          </a:p>
          <a:p>
            <a:pPr algn="l">
              <a:lnSpc>
                <a:spcPts val="74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crypto speculation for vulnerable users</a:t>
            </a:r>
          </a:p>
          <a:p>
            <a:pPr algn="l">
              <a:lnSpc>
                <a:spcPts val="74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Institutional investors avoid FX exposure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515893" y="2665157"/>
            <a:ext cx="8586290" cy="3667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4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Recognises informal economy </a:t>
            </a:r>
          </a:p>
          <a:p>
            <a:pPr algn="l" marL="0" indent="0" lvl="1">
              <a:lnSpc>
                <a:spcPts val="74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(stokvels = positive)</a:t>
            </a:r>
          </a:p>
          <a:p>
            <a:pPr algn="l">
              <a:lnSpc>
                <a:spcPts val="74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6 months </a:t>
            </a:r>
          </a:p>
          <a:p>
            <a:pPr algn="l" marL="0" indent="0" lvl="1">
              <a:lnSpc>
                <a:spcPts val="74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transaction data &gt; bureau scores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91638" y="7703816"/>
            <a:ext cx="7953188" cy="178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4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NCA, FSCA, FIC Act, POPIA compliant</a:t>
            </a:r>
          </a:p>
          <a:p>
            <a:pPr algn="l" marL="0" indent="0" lvl="1">
              <a:lnSpc>
                <a:spcPts val="74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Built for sandbox → production licensing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05535" y="7703816"/>
            <a:ext cx="8343293" cy="1781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4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Diversified risk across borrower portfolio </a:t>
            </a:r>
          </a:p>
          <a:p>
            <a:pPr algn="l" marL="0" indent="0" lvl="1">
              <a:lnSpc>
                <a:spcPts val="74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Contracts automate allocation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-974249" y="6859116"/>
            <a:ext cx="9845947" cy="805584"/>
            <a:chOff x="0" y="0"/>
            <a:chExt cx="1794915" cy="14685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94914" cy="146858"/>
            </a:xfrm>
            <a:custGeom>
              <a:avLst/>
              <a:gdLst/>
              <a:ahLst/>
              <a:cxnLst/>
              <a:rect r="r" b="b" t="t" l="l"/>
              <a:pathLst>
                <a:path h="146858" w="1794914">
                  <a:moveTo>
                    <a:pt x="40102" y="0"/>
                  </a:moveTo>
                  <a:lnTo>
                    <a:pt x="1754813" y="0"/>
                  </a:lnTo>
                  <a:cubicBezTo>
                    <a:pt x="1776960" y="0"/>
                    <a:pt x="1794914" y="17954"/>
                    <a:pt x="1794914" y="40102"/>
                  </a:cubicBezTo>
                  <a:lnTo>
                    <a:pt x="1794914" y="106756"/>
                  </a:lnTo>
                  <a:cubicBezTo>
                    <a:pt x="1794914" y="128904"/>
                    <a:pt x="1776960" y="146858"/>
                    <a:pt x="1754813" y="146858"/>
                  </a:cubicBezTo>
                  <a:lnTo>
                    <a:pt x="40102" y="146858"/>
                  </a:lnTo>
                  <a:cubicBezTo>
                    <a:pt x="17954" y="146858"/>
                    <a:pt x="0" y="128904"/>
                    <a:pt x="0" y="106756"/>
                  </a:cubicBezTo>
                  <a:lnTo>
                    <a:pt x="0" y="40102"/>
                  </a:lnTo>
                  <a:cubicBezTo>
                    <a:pt x="0" y="17954"/>
                    <a:pt x="17954" y="0"/>
                    <a:pt x="40102" y="0"/>
                  </a:cubicBezTo>
                  <a:close/>
                </a:path>
              </a:pathLst>
            </a:custGeom>
            <a:solidFill>
              <a:srgbClr val="5E17EB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794915" cy="194483"/>
            </a:xfrm>
            <a:prstGeom prst="rect">
              <a:avLst/>
            </a:prstGeom>
          </p:spPr>
          <p:txBody>
            <a:bodyPr anchor="ctr" rtlCol="false" tIns="73392" lIns="73392" bIns="73392" rIns="73392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450666" y="6922393"/>
            <a:ext cx="570530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900"/>
              </a:lnSpc>
              <a:spcBef>
                <a:spcPct val="0"/>
              </a:spcBef>
            </a:pPr>
            <a:r>
              <a:rPr lang="en-US" b="true" sz="3500" strike="noStrike" u="none">
                <a:solidFill>
                  <a:srgbClr val="F6F6F6"/>
                </a:solidFill>
                <a:latin typeface="Poppins Bold"/>
                <a:ea typeface="Poppins Bold"/>
                <a:cs typeface="Poppins Bold"/>
                <a:sym typeface="Poppins Bold"/>
              </a:rPr>
              <a:t>Regulatory-First Design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7108"/>
            <a:ext cx="116235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47446" y="3266668"/>
            <a:ext cx="14448207" cy="5185088"/>
            <a:chOff x="0" y="0"/>
            <a:chExt cx="19264276" cy="69134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264276" cy="6913451"/>
              <a:chOff x="0" y="0"/>
              <a:chExt cx="3805289" cy="136562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805289" cy="1365620"/>
              </a:xfrm>
              <a:custGeom>
                <a:avLst/>
                <a:gdLst/>
                <a:ahLst/>
                <a:cxnLst/>
                <a:rect r="r" b="b" t="t" l="l"/>
                <a:pathLst>
                  <a:path h="1365620" w="3805289">
                    <a:moveTo>
                      <a:pt x="27328" y="0"/>
                    </a:moveTo>
                    <a:lnTo>
                      <a:pt x="3777961" y="0"/>
                    </a:lnTo>
                    <a:cubicBezTo>
                      <a:pt x="3793054" y="0"/>
                      <a:pt x="3805289" y="12235"/>
                      <a:pt x="3805289" y="27328"/>
                    </a:cubicBezTo>
                    <a:lnTo>
                      <a:pt x="3805289" y="1338292"/>
                    </a:lnTo>
                    <a:cubicBezTo>
                      <a:pt x="3805289" y="1353385"/>
                      <a:pt x="3793054" y="1365620"/>
                      <a:pt x="3777961" y="1365620"/>
                    </a:cubicBezTo>
                    <a:lnTo>
                      <a:pt x="27328" y="1365620"/>
                    </a:lnTo>
                    <a:cubicBezTo>
                      <a:pt x="12235" y="1365620"/>
                      <a:pt x="0" y="1353385"/>
                      <a:pt x="0" y="1338292"/>
                    </a:cubicBezTo>
                    <a:lnTo>
                      <a:pt x="0" y="27328"/>
                    </a:lnTo>
                    <a:cubicBezTo>
                      <a:pt x="0" y="12235"/>
                      <a:pt x="12235" y="0"/>
                      <a:pt x="27328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3805289" cy="14132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4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150152" y="221401"/>
              <a:ext cx="16963973" cy="608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99"/>
                </a:lnSpc>
              </a:pPr>
              <a:r>
                <a:rPr lang="en-US" sz="2999" b="true">
                  <a:solidFill>
                    <a:srgbClr val="F6F6F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Regulatory requirements:</a:t>
              </a:r>
            </a:p>
            <a:p>
              <a:pPr algn="l" marL="647700" indent="-323850" lvl="1">
                <a:lnSpc>
                  <a:spcPts val="7499"/>
                </a:lnSpc>
                <a:buFont typeface="Arial"/>
                <a:buChar char="•"/>
              </a:pPr>
              <a:r>
                <a:rPr lang="en-US" sz="2999">
                  <a:solidFill>
                    <a:srgbClr val="F6F6F6"/>
                  </a:solidFill>
                  <a:latin typeface="Poppins"/>
                  <a:ea typeface="Poppins"/>
                  <a:cs typeface="Poppins"/>
                  <a:sym typeface="Poppins"/>
                </a:rPr>
                <a:t>Registration with the NCR as a licensed credit provider</a:t>
              </a:r>
            </a:p>
            <a:p>
              <a:pPr algn="l" marL="647700" indent="-323850" lvl="1">
                <a:lnSpc>
                  <a:spcPts val="7499"/>
                </a:lnSpc>
                <a:buFont typeface="Arial"/>
                <a:buChar char="•"/>
              </a:pPr>
              <a:r>
                <a:rPr lang="en-US" sz="2999">
                  <a:solidFill>
                    <a:srgbClr val="F6F6F6"/>
                  </a:solidFill>
                  <a:latin typeface="Poppins"/>
                  <a:ea typeface="Poppins"/>
                  <a:cs typeface="Poppins"/>
                  <a:sym typeface="Poppins"/>
                </a:rPr>
                <a:t>CASP license from the FSCA</a:t>
              </a:r>
            </a:p>
            <a:p>
              <a:pPr algn="l" marL="647700" indent="-323850" lvl="1">
                <a:lnSpc>
                  <a:spcPts val="7499"/>
                </a:lnSpc>
                <a:buFont typeface="Arial"/>
                <a:buChar char="•"/>
              </a:pPr>
              <a:r>
                <a:rPr lang="en-US" sz="2999">
                  <a:solidFill>
                    <a:srgbClr val="F6F6F6"/>
                  </a:solidFill>
                  <a:latin typeface="Poppins"/>
                  <a:ea typeface="Poppins"/>
                  <a:cs typeface="Poppins"/>
                  <a:sym typeface="Poppins"/>
                </a:rPr>
                <a:t>Registration as an accountable institution registration with FIC</a:t>
              </a:r>
            </a:p>
            <a:p>
              <a:pPr algn="l" marL="647700" indent="-323850" lvl="1">
                <a:lnSpc>
                  <a:spcPts val="7499"/>
                </a:lnSpc>
                <a:buFont typeface="Arial"/>
                <a:buChar char="•"/>
              </a:pPr>
              <a:r>
                <a:rPr lang="en-US" sz="2999">
                  <a:solidFill>
                    <a:srgbClr val="F6F6F6"/>
                  </a:solidFill>
                  <a:latin typeface="Poppins"/>
                  <a:ea typeface="Poppins"/>
                  <a:cs typeface="Poppins"/>
                  <a:sym typeface="Poppins"/>
                </a:rPr>
                <a:t>Compliance with POPIA for consent-based data sharing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4935" y="1881635"/>
            <a:ext cx="12836057" cy="87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48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What do we need to comply with?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26427" y="8992280"/>
            <a:ext cx="14235146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Collaboration with the IFWG is key to our sucess!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000000"/>
            </a:solidFill>
            <a:ln w="952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2681790" y="-1796941"/>
            <a:ext cx="19321614" cy="3302557"/>
            <a:chOff x="0" y="0"/>
            <a:chExt cx="5172281" cy="8840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000000"/>
            </a:solidFill>
            <a:ln w="14287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146093" y="132834"/>
            <a:ext cx="1029502" cy="102950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381544" y="349007"/>
            <a:ext cx="180425" cy="573209"/>
            <a:chOff x="0" y="0"/>
            <a:chExt cx="216146" cy="6866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4439686">
            <a:off x="17450035" y="330980"/>
            <a:ext cx="175656" cy="163027"/>
            <a:chOff x="0" y="0"/>
            <a:chExt cx="796609" cy="7393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5810705">
            <a:off x="17658428" y="362310"/>
            <a:ext cx="340863" cy="334164"/>
            <a:chOff x="0" y="0"/>
            <a:chExt cx="567564" cy="5564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7804179" y="564790"/>
            <a:ext cx="171373" cy="357426"/>
            <a:chOff x="0" y="0"/>
            <a:chExt cx="217756" cy="4541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01312" y="226091"/>
            <a:ext cx="1555087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Nunito Heavy"/>
                <a:ea typeface="Nunito Heavy"/>
                <a:cs typeface="Nunito Heavy"/>
                <a:sym typeface="Nunito Heavy"/>
              </a:rPr>
              <a:t>The South African Regulatory Landscape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523999" y="9258300"/>
            <a:ext cx="2047442" cy="1343751"/>
            <a:chOff x="0" y="0"/>
            <a:chExt cx="548088" cy="3597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088" cy="359714"/>
            </a:xfrm>
            <a:custGeom>
              <a:avLst/>
              <a:gdLst/>
              <a:ahLst/>
              <a:cxnLst/>
              <a:rect r="r" b="b" t="t" l="l"/>
              <a:pathLst>
                <a:path h="359714" w="548088">
                  <a:moveTo>
                    <a:pt x="179857" y="0"/>
                  </a:moveTo>
                  <a:lnTo>
                    <a:pt x="368231" y="0"/>
                  </a:lnTo>
                  <a:cubicBezTo>
                    <a:pt x="415932" y="0"/>
                    <a:pt x="461679" y="18949"/>
                    <a:pt x="495409" y="52679"/>
                  </a:cubicBezTo>
                  <a:cubicBezTo>
                    <a:pt x="529139" y="86409"/>
                    <a:pt x="548088" y="132156"/>
                    <a:pt x="548088" y="179857"/>
                  </a:cubicBezTo>
                  <a:lnTo>
                    <a:pt x="548088" y="179857"/>
                  </a:lnTo>
                  <a:cubicBezTo>
                    <a:pt x="548088" y="227558"/>
                    <a:pt x="529139" y="273306"/>
                    <a:pt x="495409" y="307035"/>
                  </a:cubicBezTo>
                  <a:cubicBezTo>
                    <a:pt x="461679" y="340765"/>
                    <a:pt x="415932" y="359714"/>
                    <a:pt x="368231" y="359714"/>
                  </a:cubicBezTo>
                  <a:lnTo>
                    <a:pt x="179857" y="359714"/>
                  </a:lnTo>
                  <a:cubicBezTo>
                    <a:pt x="132156" y="359714"/>
                    <a:pt x="86409" y="340765"/>
                    <a:pt x="52679" y="307035"/>
                  </a:cubicBezTo>
                  <a:cubicBezTo>
                    <a:pt x="18949" y="273306"/>
                    <a:pt x="0" y="227558"/>
                    <a:pt x="0" y="179857"/>
                  </a:cubicBezTo>
                  <a:lnTo>
                    <a:pt x="0" y="179857"/>
                  </a:lnTo>
                  <a:cubicBezTo>
                    <a:pt x="0" y="132156"/>
                    <a:pt x="18949" y="86409"/>
                    <a:pt x="52679" y="52679"/>
                  </a:cubicBezTo>
                  <a:cubicBezTo>
                    <a:pt x="86409" y="18949"/>
                    <a:pt x="132156" y="0"/>
                    <a:pt x="179857" y="0"/>
                  </a:cubicBezTo>
                  <a:close/>
                </a:path>
              </a:pathLst>
            </a:custGeom>
            <a:solidFill>
              <a:srgbClr val="000000"/>
            </a:solidFill>
            <a:ln w="9525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48088" cy="416864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7689633" y="9643155"/>
            <a:ext cx="458248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81790" y="-1796941"/>
            <a:ext cx="19321614" cy="3302557"/>
            <a:chOff x="0" y="0"/>
            <a:chExt cx="5172281" cy="884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FFFFFF"/>
            </a:solidFill>
            <a:ln w="1428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146093" y="132834"/>
            <a:ext cx="1029502" cy="10295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381544" y="349007"/>
            <a:ext cx="180425" cy="573209"/>
            <a:chOff x="0" y="0"/>
            <a:chExt cx="216146" cy="6866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4439686">
            <a:off x="17450035" y="330980"/>
            <a:ext cx="175656" cy="163027"/>
            <a:chOff x="0" y="0"/>
            <a:chExt cx="796609" cy="739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810705">
            <a:off x="17658428" y="362310"/>
            <a:ext cx="340863" cy="334164"/>
            <a:chOff x="0" y="0"/>
            <a:chExt cx="567564" cy="5564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17804179" y="564790"/>
            <a:ext cx="171373" cy="357426"/>
            <a:chOff x="0" y="0"/>
            <a:chExt cx="217756" cy="4541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01312" y="226091"/>
            <a:ext cx="1286054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000000"/>
                </a:solidFill>
                <a:latin typeface="Nunito Heavy"/>
                <a:ea typeface="Nunito Heavy"/>
                <a:cs typeface="Nunito Heavy"/>
                <a:sym typeface="Nunito Heavy"/>
              </a:rPr>
              <a:t>How We Make Revenue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523999" y="9258300"/>
            <a:ext cx="2047442" cy="1343751"/>
            <a:chOff x="0" y="0"/>
            <a:chExt cx="548088" cy="3597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088" cy="359714"/>
            </a:xfrm>
            <a:custGeom>
              <a:avLst/>
              <a:gdLst/>
              <a:ahLst/>
              <a:cxnLst/>
              <a:rect r="r" b="b" t="t" l="l"/>
              <a:pathLst>
                <a:path h="359714" w="548088">
                  <a:moveTo>
                    <a:pt x="179857" y="0"/>
                  </a:moveTo>
                  <a:lnTo>
                    <a:pt x="368231" y="0"/>
                  </a:lnTo>
                  <a:cubicBezTo>
                    <a:pt x="415932" y="0"/>
                    <a:pt x="461679" y="18949"/>
                    <a:pt x="495409" y="52679"/>
                  </a:cubicBezTo>
                  <a:cubicBezTo>
                    <a:pt x="529139" y="86409"/>
                    <a:pt x="548088" y="132156"/>
                    <a:pt x="548088" y="179857"/>
                  </a:cubicBezTo>
                  <a:lnTo>
                    <a:pt x="548088" y="179857"/>
                  </a:lnTo>
                  <a:cubicBezTo>
                    <a:pt x="548088" y="227558"/>
                    <a:pt x="529139" y="273306"/>
                    <a:pt x="495409" y="307035"/>
                  </a:cubicBezTo>
                  <a:cubicBezTo>
                    <a:pt x="461679" y="340765"/>
                    <a:pt x="415932" y="359714"/>
                    <a:pt x="368231" y="359714"/>
                  </a:cubicBezTo>
                  <a:lnTo>
                    <a:pt x="179857" y="359714"/>
                  </a:lnTo>
                  <a:cubicBezTo>
                    <a:pt x="132156" y="359714"/>
                    <a:pt x="86409" y="340765"/>
                    <a:pt x="52679" y="307035"/>
                  </a:cubicBezTo>
                  <a:cubicBezTo>
                    <a:pt x="18949" y="273306"/>
                    <a:pt x="0" y="227558"/>
                    <a:pt x="0" y="179857"/>
                  </a:cubicBezTo>
                  <a:lnTo>
                    <a:pt x="0" y="179857"/>
                  </a:lnTo>
                  <a:cubicBezTo>
                    <a:pt x="0" y="132156"/>
                    <a:pt x="18949" y="86409"/>
                    <a:pt x="52679" y="52679"/>
                  </a:cubicBezTo>
                  <a:cubicBezTo>
                    <a:pt x="86409" y="18949"/>
                    <a:pt x="132156" y="0"/>
                    <a:pt x="179857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48088" cy="416864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2923" y="2948736"/>
            <a:ext cx="7239824" cy="2937188"/>
            <a:chOff x="0" y="0"/>
            <a:chExt cx="1906785" cy="773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06785" cy="773580"/>
            </a:xfrm>
            <a:custGeom>
              <a:avLst/>
              <a:gdLst/>
              <a:ahLst/>
              <a:cxnLst/>
              <a:rect r="r" b="b" t="t" l="l"/>
              <a:pathLst>
                <a:path h="773580" w="1906785">
                  <a:moveTo>
                    <a:pt x="54537" y="0"/>
                  </a:moveTo>
                  <a:lnTo>
                    <a:pt x="1852248" y="0"/>
                  </a:lnTo>
                  <a:cubicBezTo>
                    <a:pt x="1866712" y="0"/>
                    <a:pt x="1880584" y="5746"/>
                    <a:pt x="1890812" y="15974"/>
                  </a:cubicBezTo>
                  <a:cubicBezTo>
                    <a:pt x="1901039" y="26201"/>
                    <a:pt x="1906785" y="40073"/>
                    <a:pt x="1906785" y="54537"/>
                  </a:cubicBezTo>
                  <a:lnTo>
                    <a:pt x="1906785" y="719044"/>
                  </a:lnTo>
                  <a:cubicBezTo>
                    <a:pt x="1906785" y="749163"/>
                    <a:pt x="1882368" y="773580"/>
                    <a:pt x="1852248" y="773580"/>
                  </a:cubicBezTo>
                  <a:lnTo>
                    <a:pt x="54537" y="773580"/>
                  </a:lnTo>
                  <a:cubicBezTo>
                    <a:pt x="24417" y="773580"/>
                    <a:pt x="0" y="749163"/>
                    <a:pt x="0" y="719044"/>
                  </a:cubicBezTo>
                  <a:lnTo>
                    <a:pt x="0" y="54537"/>
                  </a:lnTo>
                  <a:cubicBezTo>
                    <a:pt x="0" y="24417"/>
                    <a:pt x="24417" y="0"/>
                    <a:pt x="545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906785" cy="821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936567" y="3328922"/>
            <a:ext cx="6375333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Origination Fee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One-time charge of 1% added to</a:t>
            </a: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 the loan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900061" y="2946178"/>
            <a:ext cx="6684922" cy="2937188"/>
            <a:chOff x="0" y="0"/>
            <a:chExt cx="1760638" cy="7735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60638" cy="773580"/>
            </a:xfrm>
            <a:custGeom>
              <a:avLst/>
              <a:gdLst/>
              <a:ahLst/>
              <a:cxnLst/>
              <a:rect r="r" b="b" t="t" l="l"/>
              <a:pathLst>
                <a:path h="773580" w="1760638">
                  <a:moveTo>
                    <a:pt x="59064" y="0"/>
                  </a:moveTo>
                  <a:lnTo>
                    <a:pt x="1701574" y="0"/>
                  </a:lnTo>
                  <a:cubicBezTo>
                    <a:pt x="1717239" y="0"/>
                    <a:pt x="1732262" y="6223"/>
                    <a:pt x="1743339" y="17299"/>
                  </a:cubicBezTo>
                  <a:cubicBezTo>
                    <a:pt x="1754415" y="28376"/>
                    <a:pt x="1760638" y="43399"/>
                    <a:pt x="1760638" y="59064"/>
                  </a:cubicBezTo>
                  <a:lnTo>
                    <a:pt x="1760638" y="714517"/>
                  </a:lnTo>
                  <a:cubicBezTo>
                    <a:pt x="1760638" y="730181"/>
                    <a:pt x="1754415" y="745204"/>
                    <a:pt x="1743339" y="756281"/>
                  </a:cubicBezTo>
                  <a:cubicBezTo>
                    <a:pt x="1732262" y="767358"/>
                    <a:pt x="1717239" y="773580"/>
                    <a:pt x="1701574" y="773580"/>
                  </a:cubicBezTo>
                  <a:lnTo>
                    <a:pt x="59064" y="773580"/>
                  </a:lnTo>
                  <a:cubicBezTo>
                    <a:pt x="43399" y="773580"/>
                    <a:pt x="28376" y="767358"/>
                    <a:pt x="17299" y="756281"/>
                  </a:cubicBezTo>
                  <a:cubicBezTo>
                    <a:pt x="6223" y="745204"/>
                    <a:pt x="0" y="730181"/>
                    <a:pt x="0" y="714517"/>
                  </a:cubicBezTo>
                  <a:lnTo>
                    <a:pt x="0" y="59064"/>
                  </a:lnTo>
                  <a:cubicBezTo>
                    <a:pt x="0" y="43399"/>
                    <a:pt x="6223" y="28376"/>
                    <a:pt x="17299" y="17299"/>
                  </a:cubicBezTo>
                  <a:cubicBezTo>
                    <a:pt x="28376" y="6223"/>
                    <a:pt x="43399" y="0"/>
                    <a:pt x="5906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760638" cy="821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0" y="3328922"/>
            <a:ext cx="6301159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Early withdrawal fee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For premature lender withdr</a:t>
            </a: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awals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009739" y="6321112"/>
            <a:ext cx="7232783" cy="2937188"/>
            <a:chOff x="0" y="0"/>
            <a:chExt cx="1904931" cy="7735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4931" cy="773580"/>
            </a:xfrm>
            <a:custGeom>
              <a:avLst/>
              <a:gdLst/>
              <a:ahLst/>
              <a:cxnLst/>
              <a:rect r="r" b="b" t="t" l="l"/>
              <a:pathLst>
                <a:path h="773580" w="1904931">
                  <a:moveTo>
                    <a:pt x="54590" y="0"/>
                  </a:moveTo>
                  <a:lnTo>
                    <a:pt x="1850341" y="0"/>
                  </a:lnTo>
                  <a:cubicBezTo>
                    <a:pt x="1880490" y="0"/>
                    <a:pt x="1904931" y="24441"/>
                    <a:pt x="1904931" y="54590"/>
                  </a:cubicBezTo>
                  <a:lnTo>
                    <a:pt x="1904931" y="718990"/>
                  </a:lnTo>
                  <a:cubicBezTo>
                    <a:pt x="1904931" y="749140"/>
                    <a:pt x="1880490" y="773580"/>
                    <a:pt x="1850341" y="773580"/>
                  </a:cubicBezTo>
                  <a:lnTo>
                    <a:pt x="54590" y="773580"/>
                  </a:lnTo>
                  <a:cubicBezTo>
                    <a:pt x="24441" y="773580"/>
                    <a:pt x="0" y="749140"/>
                    <a:pt x="0" y="718990"/>
                  </a:cubicBezTo>
                  <a:lnTo>
                    <a:pt x="0" y="54590"/>
                  </a:lnTo>
                  <a:cubicBezTo>
                    <a:pt x="0" y="24441"/>
                    <a:pt x="24441" y="0"/>
                    <a:pt x="54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904931" cy="821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441564" y="6831423"/>
            <a:ext cx="6369133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Interest Rate Margin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3% spread on</a:t>
            </a:r>
            <a:r>
              <a:rPr lang="en-US" sz="2999" b="true">
                <a:solidFill>
                  <a:srgbClr val="5E17EB"/>
                </a:solidFill>
                <a:latin typeface="Poppins Bold"/>
                <a:ea typeface="Poppins Bold"/>
                <a:cs typeface="Poppins Bold"/>
                <a:sym typeface="Poppins Bold"/>
              </a:rPr>
              <a:t>  interest collected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689633" y="9643155"/>
            <a:ext cx="458248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69428" y="-1697771"/>
            <a:ext cx="19321614" cy="3302557"/>
            <a:chOff x="0" y="0"/>
            <a:chExt cx="5172281" cy="884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2281" cy="884075"/>
            </a:xfrm>
            <a:custGeom>
              <a:avLst/>
              <a:gdLst/>
              <a:ahLst/>
              <a:cxnLst/>
              <a:rect r="r" b="b" t="t" l="l"/>
              <a:pathLst>
                <a:path h="884075" w="5172281">
                  <a:moveTo>
                    <a:pt x="20435" y="0"/>
                  </a:moveTo>
                  <a:lnTo>
                    <a:pt x="5151846" y="0"/>
                  </a:lnTo>
                  <a:cubicBezTo>
                    <a:pt x="5163132" y="0"/>
                    <a:pt x="5172281" y="9149"/>
                    <a:pt x="5172281" y="20435"/>
                  </a:cubicBezTo>
                  <a:lnTo>
                    <a:pt x="5172281" y="863640"/>
                  </a:lnTo>
                  <a:cubicBezTo>
                    <a:pt x="5172281" y="869059"/>
                    <a:pt x="5170128" y="874257"/>
                    <a:pt x="5166296" y="878090"/>
                  </a:cubicBezTo>
                  <a:cubicBezTo>
                    <a:pt x="5162464" y="881922"/>
                    <a:pt x="5157266" y="884075"/>
                    <a:pt x="5151846" y="884075"/>
                  </a:cubicBezTo>
                  <a:lnTo>
                    <a:pt x="20435" y="884075"/>
                  </a:lnTo>
                  <a:cubicBezTo>
                    <a:pt x="9149" y="884075"/>
                    <a:pt x="0" y="874926"/>
                    <a:pt x="0" y="863640"/>
                  </a:cubicBezTo>
                  <a:lnTo>
                    <a:pt x="0" y="20435"/>
                  </a:lnTo>
                  <a:cubicBezTo>
                    <a:pt x="0" y="15015"/>
                    <a:pt x="2153" y="9818"/>
                    <a:pt x="5985" y="5985"/>
                  </a:cubicBezTo>
                  <a:cubicBezTo>
                    <a:pt x="9818" y="2153"/>
                    <a:pt x="15015" y="0"/>
                    <a:pt x="20435" y="0"/>
                  </a:cubicBezTo>
                  <a:close/>
                </a:path>
              </a:pathLst>
            </a:custGeom>
            <a:solidFill>
              <a:srgbClr val="5E17EB"/>
            </a:solidFill>
            <a:ln w="1428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72281" cy="941225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01312" y="226091"/>
            <a:ext cx="1286054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Nunito Heavy"/>
                <a:ea typeface="Nunito Heavy"/>
                <a:cs typeface="Nunito Heavy"/>
                <a:sym typeface="Nunito Heavy"/>
              </a:rPr>
              <a:t>Demo Video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90311" y="-1492141"/>
            <a:ext cx="2256892" cy="2891296"/>
            <a:chOff x="0" y="0"/>
            <a:chExt cx="604157" cy="7739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157" cy="773983"/>
            </a:xfrm>
            <a:custGeom>
              <a:avLst/>
              <a:gdLst/>
              <a:ahLst/>
              <a:cxnLst/>
              <a:rect r="r" b="b" t="t" l="l"/>
              <a:pathLst>
                <a:path h="773983" w="604157">
                  <a:moveTo>
                    <a:pt x="174948" y="0"/>
                  </a:moveTo>
                  <a:lnTo>
                    <a:pt x="429209" y="0"/>
                  </a:lnTo>
                  <a:cubicBezTo>
                    <a:pt x="525830" y="0"/>
                    <a:pt x="604157" y="78327"/>
                    <a:pt x="604157" y="174948"/>
                  </a:cubicBezTo>
                  <a:lnTo>
                    <a:pt x="604157" y="599035"/>
                  </a:lnTo>
                  <a:cubicBezTo>
                    <a:pt x="604157" y="695656"/>
                    <a:pt x="525830" y="773983"/>
                    <a:pt x="429209" y="773983"/>
                  </a:cubicBezTo>
                  <a:lnTo>
                    <a:pt x="174948" y="773983"/>
                  </a:lnTo>
                  <a:cubicBezTo>
                    <a:pt x="78327" y="773983"/>
                    <a:pt x="0" y="695656"/>
                    <a:pt x="0" y="599035"/>
                  </a:cubicBezTo>
                  <a:lnTo>
                    <a:pt x="0" y="174948"/>
                  </a:lnTo>
                  <a:cubicBezTo>
                    <a:pt x="0" y="78327"/>
                    <a:pt x="78327" y="0"/>
                    <a:pt x="174948" y="0"/>
                  </a:cubicBezTo>
                  <a:close/>
                </a:path>
              </a:pathLst>
            </a:custGeom>
            <a:solidFill>
              <a:srgbClr val="5E17EB"/>
            </a:solidFill>
            <a:ln w="1428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604157" cy="831133"/>
            </a:xfrm>
            <a:prstGeom prst="rect">
              <a:avLst/>
            </a:prstGeom>
          </p:spPr>
          <p:txBody>
            <a:bodyPr anchor="ctr" rtlCol="false" tIns="49980" lIns="49980" bIns="49980" rIns="49980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21374" y="132834"/>
            <a:ext cx="1029502" cy="102950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17EB"/>
            </a:solidFill>
            <a:ln w="9525" cap="sq">
              <a:solidFill>
                <a:srgbClr val="5E17EB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19860" lIns="19860" bIns="19860" rIns="19860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356824" y="349007"/>
            <a:ext cx="180425" cy="573209"/>
            <a:chOff x="0" y="0"/>
            <a:chExt cx="216146" cy="6866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6146" cy="686692"/>
            </a:xfrm>
            <a:custGeom>
              <a:avLst/>
              <a:gdLst/>
              <a:ahLst/>
              <a:cxnLst/>
              <a:rect r="r" b="b" t="t" l="l"/>
              <a:pathLst>
                <a:path h="686692" w="216146">
                  <a:moveTo>
                    <a:pt x="108073" y="0"/>
                  </a:moveTo>
                  <a:lnTo>
                    <a:pt x="108073" y="0"/>
                  </a:lnTo>
                  <a:cubicBezTo>
                    <a:pt x="167760" y="0"/>
                    <a:pt x="216146" y="48386"/>
                    <a:pt x="216146" y="108073"/>
                  </a:cubicBezTo>
                  <a:lnTo>
                    <a:pt x="216146" y="578619"/>
                  </a:lnTo>
                  <a:cubicBezTo>
                    <a:pt x="216146" y="638306"/>
                    <a:pt x="167760" y="686692"/>
                    <a:pt x="108073" y="686692"/>
                  </a:cubicBezTo>
                  <a:lnTo>
                    <a:pt x="108073" y="686692"/>
                  </a:lnTo>
                  <a:cubicBezTo>
                    <a:pt x="48386" y="686692"/>
                    <a:pt x="0" y="638306"/>
                    <a:pt x="0" y="578619"/>
                  </a:cubicBezTo>
                  <a:lnTo>
                    <a:pt x="0" y="108073"/>
                  </a:lnTo>
                  <a:cubicBezTo>
                    <a:pt x="0" y="48386"/>
                    <a:pt x="48386" y="0"/>
                    <a:pt x="1080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6146" cy="705742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4439686">
            <a:off x="17425315" y="330980"/>
            <a:ext cx="175656" cy="163027"/>
            <a:chOff x="0" y="0"/>
            <a:chExt cx="796609" cy="7393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6609" cy="739338"/>
            </a:xfrm>
            <a:custGeom>
              <a:avLst/>
              <a:gdLst/>
              <a:ahLst/>
              <a:cxnLst/>
              <a:rect r="r" b="b" t="t" l="l"/>
              <a:pathLst>
                <a:path h="739338" w="796609">
                  <a:moveTo>
                    <a:pt x="593409" y="0"/>
                  </a:moveTo>
                  <a:lnTo>
                    <a:pt x="0" y="0"/>
                  </a:lnTo>
                  <a:lnTo>
                    <a:pt x="203200" y="739338"/>
                  </a:lnTo>
                  <a:lnTo>
                    <a:pt x="796609" y="739338"/>
                  </a:lnTo>
                  <a:lnTo>
                    <a:pt x="59340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19050"/>
              <a:ext cx="593409" cy="758388"/>
            </a:xfrm>
            <a:prstGeom prst="rect">
              <a:avLst/>
            </a:prstGeom>
          </p:spPr>
          <p:txBody>
            <a:bodyPr anchor="ctr" rtlCol="false" tIns="23558" lIns="23558" bIns="23558" rIns="23558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810705">
            <a:off x="17633708" y="362310"/>
            <a:ext cx="340863" cy="334164"/>
            <a:chOff x="0" y="0"/>
            <a:chExt cx="567564" cy="5564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7564" cy="556410"/>
            </a:xfrm>
            <a:custGeom>
              <a:avLst/>
              <a:gdLst/>
              <a:ahLst/>
              <a:cxnLst/>
              <a:rect r="r" b="b" t="t" l="l"/>
              <a:pathLst>
                <a:path h="556410" w="567564">
                  <a:moveTo>
                    <a:pt x="0" y="556410"/>
                  </a:moveTo>
                  <a:cubicBezTo>
                    <a:pt x="0" y="409873"/>
                    <a:pt x="60541" y="266586"/>
                    <a:pt x="166236" y="162969"/>
                  </a:cubicBezTo>
                  <a:cubicBezTo>
                    <a:pt x="271930" y="59351"/>
                    <a:pt x="418089" y="0"/>
                    <a:pt x="567564" y="0"/>
                  </a:cubicBezTo>
                  <a:lnTo>
                    <a:pt x="567564" y="283861"/>
                  </a:lnTo>
                  <a:cubicBezTo>
                    <a:pt x="494345" y="283861"/>
                    <a:pt x="422752" y="312934"/>
                    <a:pt x="370979" y="363688"/>
                  </a:cubicBezTo>
                  <a:cubicBezTo>
                    <a:pt x="319207" y="414444"/>
                    <a:pt x="289552" y="484630"/>
                    <a:pt x="289552" y="556410"/>
                  </a:cubicBezTo>
                  <a:lnTo>
                    <a:pt x="0" y="5564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8992" y="107407"/>
              <a:ext cx="309580" cy="322546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17779459" y="564790"/>
            <a:ext cx="171373" cy="357426"/>
            <a:chOff x="0" y="0"/>
            <a:chExt cx="217756" cy="4541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756" cy="454165"/>
            </a:xfrm>
            <a:custGeom>
              <a:avLst/>
              <a:gdLst/>
              <a:ahLst/>
              <a:cxnLst/>
              <a:rect r="r" b="b" t="t" l="l"/>
              <a:pathLst>
                <a:path h="454165" w="217756">
                  <a:moveTo>
                    <a:pt x="108878" y="0"/>
                  </a:moveTo>
                  <a:lnTo>
                    <a:pt x="108878" y="0"/>
                  </a:lnTo>
                  <a:cubicBezTo>
                    <a:pt x="169010" y="0"/>
                    <a:pt x="217756" y="48746"/>
                    <a:pt x="217756" y="108878"/>
                  </a:cubicBezTo>
                  <a:lnTo>
                    <a:pt x="217756" y="345287"/>
                  </a:lnTo>
                  <a:cubicBezTo>
                    <a:pt x="217756" y="405419"/>
                    <a:pt x="169010" y="454165"/>
                    <a:pt x="108878" y="454165"/>
                  </a:cubicBezTo>
                  <a:lnTo>
                    <a:pt x="108878" y="454165"/>
                  </a:lnTo>
                  <a:cubicBezTo>
                    <a:pt x="80002" y="454165"/>
                    <a:pt x="52308" y="442694"/>
                    <a:pt x="31890" y="422276"/>
                  </a:cubicBezTo>
                  <a:cubicBezTo>
                    <a:pt x="11471" y="401857"/>
                    <a:pt x="0" y="374164"/>
                    <a:pt x="0" y="345287"/>
                  </a:cubicBezTo>
                  <a:lnTo>
                    <a:pt x="0" y="108878"/>
                  </a:lnTo>
                  <a:cubicBezTo>
                    <a:pt x="0" y="80002"/>
                    <a:pt x="11471" y="52308"/>
                    <a:pt x="31890" y="31890"/>
                  </a:cubicBezTo>
                  <a:cubicBezTo>
                    <a:pt x="52308" y="11471"/>
                    <a:pt x="80002" y="0"/>
                    <a:pt x="1088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17756" cy="473215"/>
            </a:xfrm>
            <a:prstGeom prst="rect">
              <a:avLst/>
            </a:prstGeom>
          </p:spPr>
          <p:txBody>
            <a:bodyPr anchor="ctr" rtlCol="false" tIns="22211" lIns="22211" bIns="22211" rIns="22211"/>
            <a:lstStyle/>
            <a:p>
              <a:pPr algn="ctr">
                <a:lnSpc>
                  <a:spcPts val="1260"/>
                </a:lnSpc>
              </a:pPr>
            </a:p>
          </p:txBody>
        </p:sp>
      </p:grpSp>
      <p:pic>
        <p:nvPicPr>
          <p:cNvPr name="Picture 24" id="24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0" y="1604786"/>
            <a:ext cx="18288000" cy="102789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1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23170" y="690325"/>
            <a:ext cx="14241661" cy="89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Where Every Transaction Builds Your Future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280729"/>
            <a:ext cx="16342899" cy="2257247"/>
            <a:chOff x="0" y="0"/>
            <a:chExt cx="4304303" cy="5945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04303" cy="594501"/>
            </a:xfrm>
            <a:custGeom>
              <a:avLst/>
              <a:gdLst/>
              <a:ahLst/>
              <a:cxnLst/>
              <a:rect r="r" b="b" t="t" l="l"/>
              <a:pathLst>
                <a:path h="594501" w="4304303">
                  <a:moveTo>
                    <a:pt x="24160" y="0"/>
                  </a:moveTo>
                  <a:lnTo>
                    <a:pt x="4280143" y="0"/>
                  </a:lnTo>
                  <a:cubicBezTo>
                    <a:pt x="4286551" y="0"/>
                    <a:pt x="4292696" y="2545"/>
                    <a:pt x="4297226" y="7076"/>
                  </a:cubicBezTo>
                  <a:cubicBezTo>
                    <a:pt x="4301758" y="11607"/>
                    <a:pt x="4304303" y="17752"/>
                    <a:pt x="4304303" y="24160"/>
                  </a:cubicBezTo>
                  <a:lnTo>
                    <a:pt x="4304303" y="570342"/>
                  </a:lnTo>
                  <a:cubicBezTo>
                    <a:pt x="4304303" y="576749"/>
                    <a:pt x="4301758" y="582894"/>
                    <a:pt x="4297226" y="587425"/>
                  </a:cubicBezTo>
                  <a:cubicBezTo>
                    <a:pt x="4292696" y="591956"/>
                    <a:pt x="4286551" y="594501"/>
                    <a:pt x="4280143" y="594501"/>
                  </a:cubicBezTo>
                  <a:lnTo>
                    <a:pt x="24160" y="594501"/>
                  </a:lnTo>
                  <a:cubicBezTo>
                    <a:pt x="17752" y="594501"/>
                    <a:pt x="11607" y="591956"/>
                    <a:pt x="7076" y="587425"/>
                  </a:cubicBezTo>
                  <a:cubicBezTo>
                    <a:pt x="2545" y="582894"/>
                    <a:pt x="0" y="576749"/>
                    <a:pt x="0" y="570342"/>
                  </a:cubicBezTo>
                  <a:lnTo>
                    <a:pt x="0" y="24160"/>
                  </a:lnTo>
                  <a:cubicBezTo>
                    <a:pt x="0" y="17752"/>
                    <a:pt x="2545" y="11607"/>
                    <a:pt x="7076" y="7076"/>
                  </a:cubicBezTo>
                  <a:cubicBezTo>
                    <a:pt x="11607" y="2545"/>
                    <a:pt x="17752" y="0"/>
                    <a:pt x="24160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4304303" cy="680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 Borrowers: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"You're not credit invisible. You're just uncounted. We see you."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738002"/>
            <a:ext cx="16342899" cy="2257247"/>
            <a:chOff x="0" y="0"/>
            <a:chExt cx="4304303" cy="5945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04303" cy="594501"/>
            </a:xfrm>
            <a:custGeom>
              <a:avLst/>
              <a:gdLst/>
              <a:ahLst/>
              <a:cxnLst/>
              <a:rect r="r" b="b" t="t" l="l"/>
              <a:pathLst>
                <a:path h="594501" w="4304303">
                  <a:moveTo>
                    <a:pt x="24160" y="0"/>
                  </a:moveTo>
                  <a:lnTo>
                    <a:pt x="4280143" y="0"/>
                  </a:lnTo>
                  <a:cubicBezTo>
                    <a:pt x="4286551" y="0"/>
                    <a:pt x="4292696" y="2545"/>
                    <a:pt x="4297226" y="7076"/>
                  </a:cubicBezTo>
                  <a:cubicBezTo>
                    <a:pt x="4301758" y="11607"/>
                    <a:pt x="4304303" y="17752"/>
                    <a:pt x="4304303" y="24160"/>
                  </a:cubicBezTo>
                  <a:lnTo>
                    <a:pt x="4304303" y="570342"/>
                  </a:lnTo>
                  <a:cubicBezTo>
                    <a:pt x="4304303" y="576749"/>
                    <a:pt x="4301758" y="582894"/>
                    <a:pt x="4297226" y="587425"/>
                  </a:cubicBezTo>
                  <a:cubicBezTo>
                    <a:pt x="4292696" y="591956"/>
                    <a:pt x="4286551" y="594501"/>
                    <a:pt x="4280143" y="594501"/>
                  </a:cubicBezTo>
                  <a:lnTo>
                    <a:pt x="24160" y="594501"/>
                  </a:lnTo>
                  <a:cubicBezTo>
                    <a:pt x="17752" y="594501"/>
                    <a:pt x="11607" y="591956"/>
                    <a:pt x="7076" y="587425"/>
                  </a:cubicBezTo>
                  <a:cubicBezTo>
                    <a:pt x="2545" y="582894"/>
                    <a:pt x="0" y="576749"/>
                    <a:pt x="0" y="570342"/>
                  </a:cubicBezTo>
                  <a:lnTo>
                    <a:pt x="0" y="24160"/>
                  </a:lnTo>
                  <a:cubicBezTo>
                    <a:pt x="0" y="17752"/>
                    <a:pt x="2545" y="11607"/>
                    <a:pt x="7076" y="7076"/>
                  </a:cubicBezTo>
                  <a:cubicBezTo>
                    <a:pt x="11607" y="2545"/>
                    <a:pt x="17752" y="0"/>
                    <a:pt x="24160" y="0"/>
                  </a:cubicBez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4304303" cy="680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 Lenders: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b="true">
                  <a:solidFill>
                    <a:srgbClr val="5E17E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"Impact and returns aren't trade-offs. They're aligned."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38228" y="7195274"/>
            <a:ext cx="8061921" cy="2775858"/>
          </a:xfrm>
          <a:custGeom>
            <a:avLst/>
            <a:gdLst/>
            <a:ahLst/>
            <a:cxnLst/>
            <a:rect r="r" b="b" t="t" l="l"/>
            <a:pathLst>
              <a:path h="2775858" w="8061921">
                <a:moveTo>
                  <a:pt x="0" y="0"/>
                </a:moveTo>
                <a:lnTo>
                  <a:pt x="8061922" y="0"/>
                </a:lnTo>
                <a:lnTo>
                  <a:pt x="8061922" y="2775858"/>
                </a:lnTo>
                <a:lnTo>
                  <a:pt x="0" y="2775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3582" r="0" b="-10332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134095" y="7817393"/>
            <a:ext cx="7125205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6F6F6"/>
                </a:solidFill>
                <a:latin typeface="Nunito"/>
                <a:ea typeface="Nunito"/>
                <a:cs typeface="Nunito"/>
                <a:sym typeface="Nunito"/>
              </a:rPr>
              <a:t>Decentralised</a:t>
            </a:r>
            <a:r>
              <a:rPr lang="en-US" sz="4200">
                <a:solidFill>
                  <a:srgbClr val="F6F6F6"/>
                </a:solidFill>
                <a:latin typeface="Nunito"/>
                <a:ea typeface="Nunito"/>
                <a:cs typeface="Nunito"/>
                <a:sym typeface="Nunito"/>
              </a:rPr>
              <a:t> Micro-Lending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DAG1ww2ErIA</dc:identifier>
  <dcterms:modified xsi:type="dcterms:W3CDTF">2011-08-01T06:04:30Z</dcterms:modified>
  <cp:revision>1</cp:revision>
  <dc:title>nkadime pitch deck</dc:title>
</cp:coreProperties>
</file>